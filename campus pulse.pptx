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Atkinson Hyperlegible"/>
      <p:regular r:id="rId201314"/>
    </p:embeddedFont>
    <p:embeddedFont>
      <p:font typeface="Atkinson Hyperlegible Bold"/>
      <p:regular r:id="rId201315"/>
    </p:embeddedFont>
    <p:embeddedFont>
      <p:font typeface="Bangers"/>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Introducing team Error 404: Rakesh, Arhant, Ganesh, and Lohit.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hears about an event from one group, then misses the update in another. Meanwhile, the organizer is trying to keep the whole thing moving through scattered messages. CampusPulse brings both sides into one place. First, let’s look at why the current experience breaks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all seen this: an event exists, but the update is buried, the poster is somewhere else, and nobody knows which version is current. On the organizer side, paper forms and manual coordination make attendance hard to see. That gives us the opening for one shared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side gets a clear path from discovery to ticket. The organizer side gets publishing, capacity, and check-ins in the same system. The important part is the connection: one shared system replaces scattered updates and guesswork. Now let’s follow the student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a fresher signing in using a registration number and department. Instead of searching several places, the student sees one smart feed and filters it by category or cost. The goal is simple: finding the right event takes seconds. Next, that choice becomes a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registration flow supports both free and paid events in the product. After registering, the student gets a dynamic QR code ticket and can add the event to Google Calendar. That means the final step is something they can actually use at the door. While students arrive, organizers need a live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organizer side, the problem is uncertainty: how many people registered, how many arrived, and what is happening right now? The live dashboard shows capacity and check-in status. QR check-ins replace manual attendance tracking, and real-time analytics turn the event into a clear picture. The technology underneath is deliberately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kept the stack focused. React powers the interactive experience. Tailwind CSS keeps the interface consistent and responsive. Lucide Icons keep actions clear and lightweight. Firebase supports real-time database syncing, which is what lets the organizer view stay current. With that foundation, we can remove even more admin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core journey works, the next opportunities are about removing admin. An organizer could scan an event poster with AI to create a draft listing, move approvals from paper to a digital workflow, and use campus data to improve timing, reach, and planning. That creates value for both students and colleges.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gets more chances to participate because discovery is easier. Organizers spend less time on forms, conflicts, and counting. Colleges gain a clearer view of engagement and event demand. So the same system makes campus life easier to find and easier to understand. That brings us to the larger experience CampusPulse is designed to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should not miss an event because the information was scattered. An organizer should not have to guess who arrived. CampusPulse moves us from scattered announcements to one trusted place, from paper attendance to live visibility, and from “Did anyone see this?” to “Let’s make it happen.”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D6E0"/>
          </a:solidFill>
          <a:ln/>
        </p:spPr>
      </p:sp>
      <p:pic>
        <p:nvPicPr>
          <p:cNvPr id="3"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189" y="469021"/>
            <a:ext cx="11734506" cy="379710"/>
          </a:xfrm>
          <a:prstGeom prst="rect">
            <a:avLst/>
          </a:prstGeom>
          <a:noFill/>
          <a:ln/>
        </p:spPr>
        <p:txBody>
          <a:bodyPr wrap="none" lIns="0" tIns="0" rIns="0" bIns="0" rtlCol="0" anchor="t"/>
          <a:lstStyle/>
          <a:p>
            <a:pPr algn="l" indent="0" marL="0">
              <a:lnSpc>
                <a:spcPct val="96000"/>
              </a:lnSpc>
              <a:buNone/>
            </a:pPr>
            <a:r>
              <a:rPr lang="en-US" sz="2600" b="1" spc="182" kern="100" dirty="0">
                <a:solidFill>
                  <a:srgbClr val="000000"/>
                </a:solidFill>
                <a:latin typeface="Atkinson Hyperlegible Bold" pitchFamily="34" charset="0"/>
                <a:ea typeface="Atkinson Hyperlegible Bold" pitchFamily="34" charset="-122"/>
                <a:cs typeface="Atkinson Hyperlegible Bold" pitchFamily="34" charset="-120"/>
              </a:rPr>
              <a:t>TEAM ERROR 404</a:t>
            </a:r>
            <a:endParaRPr lang="en-US" sz="2600" dirty="0"/>
          </a:p>
        </p:txBody>
      </p:sp>
      <p:sp>
        <p:nvSpPr>
          <p:cNvPr id="3" name="Text 1"/>
          <p:cNvSpPr/>
          <p:nvPr/>
        </p:nvSpPr>
        <p:spPr>
          <a:xfrm>
            <a:off x="457189" y="2257990"/>
            <a:ext cx="11277318" cy="934641"/>
          </a:xfrm>
          <a:prstGeom prst="rect">
            <a:avLst/>
          </a:prstGeom>
          <a:noFill/>
          <a:ln/>
        </p:spPr>
        <p:txBody>
          <a:bodyPr wrap="square" lIns="0" tIns="0" rIns="0" bIns="0" rtlCol="0" anchor="t">
            <a:normAutofit/>
          </a:bodyPr>
          <a:lstStyle/>
          <a:p>
            <a:pPr algn="l" indent="0" marL="0">
              <a:lnSpc>
                <a:spcPct val="77000"/>
              </a:lnSpc>
              <a:buNone/>
            </a:pPr>
            <a:r>
              <a:rPr lang="en-US" sz="4000" spc="20" kern="100" dirty="0">
                <a:solidFill>
                  <a:srgbClr val="0A1A33"/>
                </a:solidFill>
                <a:latin typeface="Bangers" pitchFamily="34" charset="0"/>
                <a:ea typeface="Bangers" pitchFamily="34" charset="-122"/>
                <a:cs typeface="Bangers" pitchFamily="34" charset="-120"/>
              </a:rPr>
              <a:t>CAMPUSPULSE - THE TWO-SIDED SMART EVENT HUB &amp; HOSTING PIPELINE</a:t>
            </a:r>
            <a:endParaRPr lang="en-US" sz="4000" dirty="0"/>
          </a:p>
        </p:txBody>
      </p:sp>
      <p:sp>
        <p:nvSpPr>
          <p:cNvPr id="4" name="Text 2"/>
          <p:cNvSpPr/>
          <p:nvPr/>
        </p:nvSpPr>
        <p:spPr>
          <a:xfrm>
            <a:off x="457189" y="3952405"/>
            <a:ext cx="11277318" cy="227509"/>
          </a:xfrm>
          <a:prstGeom prst="rect">
            <a:avLst/>
          </a:prstGeom>
          <a:noFill/>
          <a:ln/>
        </p:spPr>
        <p:txBody>
          <a:bodyPr wrap="none" lIns="0" tIns="0" rIns="0" bIns="0" rtlCol="0" anchor="t"/>
          <a:lstStyle/>
          <a:p>
            <a:pPr algn="l" indent="0" marL="0">
              <a:lnSpc>
                <a:spcPct val="93000"/>
              </a:lnSpc>
              <a:buNone/>
            </a:pPr>
            <a:r>
              <a:rPr lang="en-US" sz="1600" b="1" dirty="0">
                <a:solidFill>
                  <a:srgbClr val="000000"/>
                </a:solidFill>
                <a:latin typeface="Atkinson Hyperlegible Bold" pitchFamily="34" charset="0"/>
                <a:ea typeface="Atkinson Hyperlegible Bold" pitchFamily="34" charset="-122"/>
                <a:cs typeface="Atkinson Hyperlegible Bold" pitchFamily="34" charset="-120"/>
              </a:rPr>
              <a:t>Team members</a:t>
            </a:r>
            <a:endParaRPr lang="en-US" sz="1600" dirty="0"/>
          </a:p>
        </p:txBody>
      </p:sp>
      <p:sp>
        <p:nvSpPr>
          <p:cNvPr id="5" name="Text 3"/>
          <p:cNvSpPr/>
          <p:nvPr/>
        </p:nvSpPr>
        <p:spPr>
          <a:xfrm>
            <a:off x="457189" y="4348559"/>
            <a:ext cx="11734506" cy="201116"/>
          </a:xfrm>
          <a:prstGeom prst="rect">
            <a:avLst/>
          </a:prstGeom>
          <a:noFill/>
          <a:ln/>
        </p:spPr>
        <p:txBody>
          <a:bodyPr wrap="none" lIns="0" tIns="0" rIns="0" bIns="0" rtlCol="0" anchor="t"/>
          <a:lstStyle/>
          <a:p>
            <a:pPr algn="l" marL="243840" indent="-243840">
              <a:lnSpc>
                <a:spcPct val="110000"/>
              </a:lnSpc>
              <a:buSzPct val="100000"/>
              <a:buChar char="•"/>
            </a:pPr>
            <a:r>
              <a:rPr lang="en-US" sz="1200" dirty="0">
                <a:solidFill>
                  <a:srgbClr val="000000"/>
                </a:solidFill>
                <a:latin typeface="Atkinson Hyperlegible" pitchFamily="34" charset="0"/>
                <a:ea typeface="Atkinson Hyperlegible" pitchFamily="34" charset="-122"/>
                <a:cs typeface="Atkinson Hyperlegible" pitchFamily="34" charset="-120"/>
              </a:rPr>
              <a:t>RAKESH</a:t>
            </a:r>
            <a:endParaRPr lang="en-US" sz="1200" dirty="0"/>
          </a:p>
        </p:txBody>
      </p:sp>
      <p:sp>
        <p:nvSpPr>
          <p:cNvPr id="6" name="Text 4"/>
          <p:cNvSpPr/>
          <p:nvPr/>
        </p:nvSpPr>
        <p:spPr>
          <a:xfrm>
            <a:off x="457189" y="4562376"/>
            <a:ext cx="11734506" cy="201116"/>
          </a:xfrm>
          <a:prstGeom prst="rect">
            <a:avLst/>
          </a:prstGeom>
          <a:noFill/>
          <a:ln/>
        </p:spPr>
        <p:txBody>
          <a:bodyPr wrap="none" lIns="0" tIns="0" rIns="0" bIns="0" rtlCol="0" anchor="t"/>
          <a:lstStyle/>
          <a:p>
            <a:pPr algn="l" marL="243840" indent="-243840">
              <a:lnSpc>
                <a:spcPct val="110000"/>
              </a:lnSpc>
              <a:buSzPct val="100000"/>
              <a:buChar char="•"/>
            </a:pPr>
            <a:r>
              <a:rPr lang="en-US" sz="1200" dirty="0">
                <a:solidFill>
                  <a:srgbClr val="000000"/>
                </a:solidFill>
                <a:latin typeface="Atkinson Hyperlegible" pitchFamily="34" charset="0"/>
                <a:ea typeface="Atkinson Hyperlegible" pitchFamily="34" charset="-122"/>
                <a:cs typeface="Atkinson Hyperlegible" pitchFamily="34" charset="-120"/>
              </a:rPr>
              <a:t>ARHANT</a:t>
            </a:r>
            <a:endParaRPr lang="en-US" sz="1200" dirty="0"/>
          </a:p>
        </p:txBody>
      </p:sp>
      <p:sp>
        <p:nvSpPr>
          <p:cNvPr id="7" name="Text 5"/>
          <p:cNvSpPr/>
          <p:nvPr/>
        </p:nvSpPr>
        <p:spPr>
          <a:xfrm>
            <a:off x="457189" y="4776192"/>
            <a:ext cx="11277318" cy="456208"/>
          </a:xfrm>
          <a:prstGeom prst="rect">
            <a:avLst/>
          </a:prstGeom>
          <a:noFill/>
          <a:ln/>
        </p:spPr>
        <p:txBody>
          <a:bodyPr wrap="square" lIns="0" tIns="0" rIns="0" bIns="0" rtlCol="0" anchor="t">
            <a:normAutofit/>
          </a:bodyPr>
          <a:lstStyle/>
          <a:p>
            <a:pPr algn="l" marL="243840" indent="-243840">
              <a:lnSpc>
                <a:spcPct val="110000"/>
              </a:lnSpc>
              <a:buSzPct val="100000"/>
              <a:buChar char="•"/>
            </a:pPr>
            <a:r>
              <a:rPr lang="en-US" sz="1200" dirty="0">
                <a:solidFill>
                  <a:srgbClr val="000000"/>
                </a:solidFill>
                <a:latin typeface="Atkinson Hyperlegible" pitchFamily="34" charset="0"/>
                <a:ea typeface="Atkinson Hyperlegible" pitchFamily="34" charset="-122"/>
                <a:cs typeface="Atkinson Hyperlegible" pitchFamily="34" charset="-120"/>
              </a:rPr>
              <a:t>LOHIT</a:t>
            </a:r>
            <a:endParaRPr lang="en-US" sz="1200" dirty="0"/>
          </a:p>
          <a:p>
            <a:pPr algn="l" marL="243840" indent="-243840">
              <a:lnSpc>
                <a:spcPct val="110000"/>
              </a:lnSpc>
              <a:buSzPct val="100000"/>
              <a:buChar char="•"/>
            </a:pPr>
            <a:r>
              <a:rPr lang="en-US" sz="1200" dirty="0">
                <a:solidFill>
                  <a:srgbClr val="000000"/>
                </a:solidFill>
                <a:latin typeface="Atkinson Hyperlegible" pitchFamily="34" charset="0"/>
                <a:ea typeface="Atkinson Hyperlegible" pitchFamily="34" charset="-122"/>
                <a:cs typeface="Atkinson Hyperlegible" pitchFamily="34" charset="-120"/>
              </a:rPr>
              <a:t>GANESH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876678" cy="6858000"/>
          </a:xfrm>
          <a:prstGeom prst="rect">
            <a:avLst/>
          </a:prstGeom>
          <a:solidFill>
            <a:srgbClr val="FFFFFF"/>
          </a:solidFill>
          <a:ln/>
        </p:spPr>
      </p:sp>
      <p:sp>
        <p:nvSpPr>
          <p:cNvPr id="3" name="Text 1"/>
          <p:cNvSpPr/>
          <p:nvPr/>
        </p:nvSpPr>
        <p:spPr>
          <a:xfrm>
            <a:off x="457189" y="462525"/>
            <a:ext cx="4419489" cy="197148"/>
          </a:xfrm>
          <a:prstGeom prst="rect">
            <a:avLst/>
          </a:prstGeom>
          <a:noFill/>
          <a:ln/>
        </p:spPr>
        <p:txBody>
          <a:bodyPr wrap="none" lIns="0" tIns="0" rIns="0" bIns="0" rtlCol="0" anchor="t"/>
          <a:lstStyle/>
          <a:p>
            <a:pPr algn="l" indent="0" marL="0">
              <a:lnSpc>
                <a:spcPct val="96000"/>
              </a:lnSpc>
              <a:buNone/>
            </a:pPr>
            <a:r>
              <a:rPr lang="en-US" sz="1350" b="1" spc="94" kern="100" dirty="0">
                <a:solidFill>
                  <a:srgbClr val="16263D"/>
                </a:solidFill>
                <a:latin typeface="Atkinson Hyperlegible Bold" pitchFamily="34" charset="0"/>
                <a:ea typeface="Atkinson Hyperlegible Bold" pitchFamily="34" charset="-122"/>
                <a:cs typeface="Atkinson Hyperlegible Bold" pitchFamily="34" charset="-120"/>
              </a:rPr>
              <a:t>CAMPUSPULSE · THE PROBLEM</a:t>
            </a:r>
            <a:endParaRPr lang="en-US" sz="1350" dirty="0"/>
          </a:p>
        </p:txBody>
      </p:sp>
      <p:sp>
        <p:nvSpPr>
          <p:cNvPr id="4" name="Text 2"/>
          <p:cNvSpPr/>
          <p:nvPr/>
        </p:nvSpPr>
        <p:spPr>
          <a:xfrm>
            <a:off x="457189" y="1525600"/>
            <a:ext cx="3962301" cy="3504902"/>
          </a:xfrm>
          <a:prstGeom prst="rect">
            <a:avLst/>
          </a:prstGeom>
          <a:noFill/>
          <a:ln/>
        </p:spPr>
        <p:txBody>
          <a:bodyPr wrap="square" lIns="0" tIns="0" rIns="0" bIns="0" rtlCol="0" anchor="t">
            <a:normAutofit/>
          </a:bodyPr>
          <a:lstStyle/>
          <a:p>
            <a:pPr algn="l" indent="0" marL="0">
              <a:lnSpc>
                <a:spcPct val="77000"/>
              </a:lnSpc>
              <a:buNone/>
            </a:pPr>
            <a:r>
              <a:rPr lang="en-US" sz="6000" spc="30" kern="100" dirty="0">
                <a:solidFill>
                  <a:srgbClr val="0A1A33"/>
                </a:solidFill>
                <a:latin typeface="Bangers" pitchFamily="34" charset="0"/>
                <a:ea typeface="Bangers" pitchFamily="34" charset="-122"/>
                <a:cs typeface="Bangers" pitchFamily="34" charset="-120"/>
              </a:rPr>
              <a:t>CAMPUS LIFE</a:t>
            </a:r>
            <a:endParaRPr lang="en-US" sz="6000" dirty="0"/>
          </a:p>
          <a:p>
            <a:pPr algn="l" indent="0" marL="0">
              <a:lnSpc>
                <a:spcPct val="77000"/>
              </a:lnSpc>
              <a:buNone/>
            </a:pPr>
            <a:r>
              <a:rPr lang="en-US" sz="6000" spc="30" kern="100" dirty="0">
                <a:solidFill>
                  <a:srgbClr val="0A1A33"/>
                </a:solidFill>
                <a:latin typeface="Bangers" pitchFamily="34" charset="0"/>
                <a:ea typeface="Bangers" pitchFamily="34" charset="-122"/>
                <a:cs typeface="Bangers" pitchFamily="34" charset="-120"/>
              </a:rPr>
              <a:t>SHOULD NOT BE</a:t>
            </a:r>
            <a:endParaRPr lang="en-US" sz="6000" dirty="0"/>
          </a:p>
          <a:p>
            <a:pPr algn="l" indent="0" marL="0">
              <a:lnSpc>
                <a:spcPct val="77000"/>
              </a:lnSpc>
              <a:buNone/>
            </a:pPr>
            <a:r>
              <a:rPr lang="en-US" sz="6000" spc="30" kern="100" dirty="0">
                <a:solidFill>
                  <a:srgbClr val="0A1A33"/>
                </a:solidFill>
                <a:latin typeface="Bangers" pitchFamily="34" charset="0"/>
                <a:ea typeface="Bangers" pitchFamily="34" charset="-122"/>
                <a:cs typeface="Bangers" pitchFamily="34" charset="-120"/>
              </a:rPr>
              <a:t>HIDDEN IN A</a:t>
            </a:r>
            <a:endParaRPr lang="en-US" sz="6000" dirty="0"/>
          </a:p>
          <a:p>
            <a:pPr algn="l" indent="0" marL="0">
              <a:lnSpc>
                <a:spcPct val="77000"/>
              </a:lnSpc>
              <a:buNone/>
            </a:pPr>
            <a:r>
              <a:rPr lang="en-US" sz="6000" spc="30" kern="100" dirty="0">
                <a:solidFill>
                  <a:srgbClr val="0A1A33"/>
                </a:solidFill>
                <a:latin typeface="Bangers" pitchFamily="34" charset="0"/>
                <a:ea typeface="Bangers" pitchFamily="34" charset="-122"/>
                <a:cs typeface="Bangers" pitchFamily="34" charset="-120"/>
              </a:rPr>
              <a:t>WHATSAPP GROUP</a:t>
            </a:r>
            <a:endParaRPr lang="en-US" sz="6000" dirty="0"/>
          </a:p>
        </p:txBody>
      </p:sp>
      <p:sp>
        <p:nvSpPr>
          <p:cNvPr id="5" name="Text 3"/>
          <p:cNvSpPr/>
          <p:nvPr/>
        </p:nvSpPr>
        <p:spPr>
          <a:xfrm>
            <a:off x="457189" y="5161709"/>
            <a:ext cx="3962301" cy="1251347"/>
          </a:xfrm>
          <a:prstGeom prst="rect">
            <a:avLst/>
          </a:prstGeom>
          <a:noFill/>
          <a:ln/>
        </p:spPr>
        <p:txBody>
          <a:bodyPr wrap="square" lIns="0" tIns="0" rIns="0" bIns="0" rtlCol="0" anchor="t">
            <a:normAutofit/>
          </a:bodyPr>
          <a:lstStyle/>
          <a:p>
            <a:pPr algn="l" indent="0" marL="0">
              <a:lnSpc>
                <a:spcPct val="93000"/>
              </a:lnSpc>
              <a:buNone/>
            </a:pPr>
            <a:r>
              <a:rPr lang="en-US" sz="2200" b="1" dirty="0">
                <a:solidFill>
                  <a:srgbClr val="16263D"/>
                </a:solidFill>
                <a:latin typeface="Atkinson Hyperlegible Bold" pitchFamily="34" charset="0"/>
                <a:ea typeface="Atkinson Hyperlegible Bold" pitchFamily="34" charset="-122"/>
                <a:cs typeface="Atkinson Hyperlegible Bold" pitchFamily="34" charset="-120"/>
              </a:rPr>
              <a:t>CampusPulse helps students discover events and helps organizers run them without the chaos.</a:t>
            </a:r>
            <a:endParaRPr lang="en-US" sz="2200" dirty="0"/>
          </a:p>
        </p:txBody>
      </p:sp>
      <p:pic>
        <p:nvPicPr>
          <p:cNvPr id="6" name="Image 0" descr="preencoded.png">    </p:cNvPr>
          <p:cNvPicPr>
            <a:picLocks noChangeAspect="1"/>
          </p:cNvPicPr>
          <p:nvPr/>
        </p:nvPicPr>
        <p:blipFill>
          <a:blip r:embed="rId1"/>
          <a:stretch>
            <a:fillRect/>
          </a:stretch>
        </p:blipFill>
        <p:spPr>
          <a:xfrm>
            <a:off x="4876678" y="0"/>
            <a:ext cx="7315017" cy="6858000"/>
          </a:xfrm>
          <a:prstGeom prst="rect">
            <a:avLst/>
          </a:prstGeom>
        </p:spPr>
      </p:pic>
      <p:sp>
        <p:nvSpPr>
          <p:cNvPr id="7" name="Shape 4"/>
          <p:cNvSpPr/>
          <p:nvPr/>
        </p:nvSpPr>
        <p:spPr>
          <a:xfrm>
            <a:off x="4857628" y="0"/>
            <a:ext cx="38099" cy="6858000"/>
          </a:xfrm>
          <a:prstGeom prst="rect">
            <a:avLst/>
          </a:prstGeom>
          <a:solidFill>
            <a:srgbClr val="1F6BF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876678" cy="6858000"/>
          </a:xfrm>
          <a:prstGeom prst="rect">
            <a:avLst/>
          </a:prstGeom>
        </p:spPr>
      </p:pic>
      <p:sp>
        <p:nvSpPr>
          <p:cNvPr id="3" name="Text 0"/>
          <p:cNvSpPr/>
          <p:nvPr/>
        </p:nvSpPr>
        <p:spPr>
          <a:xfrm>
            <a:off x="5257668" y="233925"/>
            <a:ext cx="6934027" cy="197148"/>
          </a:xfrm>
          <a:prstGeom prst="rect">
            <a:avLst/>
          </a:prstGeom>
          <a:noFill/>
          <a:ln/>
        </p:spPr>
        <p:txBody>
          <a:bodyPr wrap="none" lIns="0" tIns="0" rIns="0" bIns="0" rtlCol="0" anchor="t"/>
          <a:lstStyle/>
          <a:p>
            <a:pPr algn="l" indent="0" marL="0">
              <a:lnSpc>
                <a:spcPct val="96000"/>
              </a:lnSpc>
              <a:buNone/>
            </a:pPr>
            <a:r>
              <a:rPr lang="en-US" sz="1350" b="1" spc="94" kern="100" dirty="0">
                <a:solidFill>
                  <a:srgbClr val="1F6BFF"/>
                </a:solidFill>
                <a:latin typeface="Atkinson Hyperlegible Bold" pitchFamily="34" charset="0"/>
                <a:ea typeface="Atkinson Hyperlegible Bold" pitchFamily="34" charset="-122"/>
                <a:cs typeface="Atkinson Hyperlegible Bold" pitchFamily="34" charset="-120"/>
              </a:rPr>
              <a:t>THE CURRENT EXPERIENCE</a:t>
            </a:r>
            <a:endParaRPr lang="en-US" sz="1350" dirty="0"/>
          </a:p>
        </p:txBody>
      </p:sp>
      <p:sp>
        <p:nvSpPr>
          <p:cNvPr id="4" name="Text 1"/>
          <p:cNvSpPr/>
          <p:nvPr/>
        </p:nvSpPr>
        <p:spPr>
          <a:xfrm>
            <a:off x="5257668" y="550005"/>
            <a:ext cx="6553036" cy="1095177"/>
          </a:xfrm>
          <a:prstGeom prst="rect">
            <a:avLst/>
          </a:prstGeom>
          <a:noFill/>
          <a:ln/>
        </p:spPr>
        <p:txBody>
          <a:bodyPr wrap="square" lIns="0" tIns="0" rIns="0" bIns="0" rtlCol="0" anchor="t">
            <a:normAutofit/>
          </a:bodyPr>
          <a:lstStyle/>
          <a:p>
            <a:pPr algn="l" indent="0" marL="0">
              <a:lnSpc>
                <a:spcPct val="82000"/>
              </a:lnSpc>
              <a:buNone/>
            </a:pPr>
            <a:r>
              <a:rPr lang="en-US" sz="4400" spc="44" kern="100" dirty="0">
                <a:solidFill>
                  <a:srgbClr val="0A1A33"/>
                </a:solidFill>
                <a:latin typeface="Bangers" pitchFamily="34" charset="0"/>
                <a:ea typeface="Bangers" pitchFamily="34" charset="-122"/>
                <a:cs typeface="Bangers" pitchFamily="34" charset="-120"/>
              </a:rPr>
              <a:t>STUDENTS MISS EVENTS BECAUSE THE INFORMATION IS SCATTERED</a:t>
            </a:r>
            <a:endParaRPr lang="en-US" sz="4400" dirty="0"/>
          </a:p>
        </p:txBody>
      </p:sp>
      <p:sp>
        <p:nvSpPr>
          <p:cNvPr id="5" name="Shape 2"/>
          <p:cNvSpPr/>
          <p:nvPr/>
        </p:nvSpPr>
        <p:spPr>
          <a:xfrm>
            <a:off x="5359266" y="1971774"/>
            <a:ext cx="516917" cy="516930"/>
          </a:xfrm>
          <a:prstGeom prst="ellipse">
            <a:avLst/>
          </a:prstGeom>
          <a:solidFill>
            <a:srgbClr val="1F6BFF"/>
          </a:solidFill>
          <a:ln w="12700">
            <a:solidFill>
              <a:srgbClr val="D8D4D4"/>
            </a:solidFill>
            <a:prstDash val="solid"/>
          </a:ln>
          <a:effectLst>
            <a:outerShdw sx="100000" sy="100000" kx="0" ky="0" algn="bl" rotWithShape="0" blurRad="127" dist="29210" dir="2700000">
              <a:srgbClr val="d8d4d4">
                <a:alpha val="100000"/>
              </a:srgbClr>
            </a:outerShdw>
          </a:effectLst>
        </p:spPr>
      </p:sp>
      <p:sp>
        <p:nvSpPr>
          <p:cNvPr id="6" name="Text 3"/>
          <p:cNvSpPr/>
          <p:nvPr/>
        </p:nvSpPr>
        <p:spPr>
          <a:xfrm>
            <a:off x="5429114" y="2058789"/>
            <a:ext cx="986805" cy="342900"/>
          </a:xfrm>
          <a:prstGeom prst="rect">
            <a:avLst/>
          </a:prstGeom>
          <a:noFill/>
          <a:ln/>
        </p:spPr>
        <p:txBody>
          <a:bodyPr wrap="none" lIns="0" tIns="0" rIns="0" bIns="0" rtlCol="0" anchor="t"/>
          <a:lstStyle/>
          <a:p>
            <a:pPr algn="l" indent="0" marL="0">
              <a:lnSpc>
                <a:spcPct val="83000"/>
              </a:lnSpc>
              <a:buNone/>
            </a:pPr>
            <a:r>
              <a:rPr lang="en-US" sz="2700" b="1" dirty="0">
                <a:solidFill>
                  <a:srgbClr val="FFFFFF"/>
                </a:solidFill>
                <a:latin typeface="Atkinson Hyperlegible Bold" pitchFamily="34" charset="0"/>
                <a:ea typeface="Atkinson Hyperlegible Bold" pitchFamily="34" charset="-122"/>
                <a:cs typeface="Atkinson Hyperlegible Bold" pitchFamily="34" charset="-120"/>
              </a:rPr>
              <a:t>01</a:t>
            </a:r>
            <a:endParaRPr lang="en-US" sz="2700" dirty="0"/>
          </a:p>
        </p:txBody>
      </p:sp>
      <p:sp>
        <p:nvSpPr>
          <p:cNvPr id="7" name="Text 4"/>
          <p:cNvSpPr/>
          <p:nvPr/>
        </p:nvSpPr>
        <p:spPr>
          <a:xfrm>
            <a:off x="6028579" y="2080316"/>
            <a:ext cx="5680528" cy="704056"/>
          </a:xfrm>
          <a:prstGeom prst="rect">
            <a:avLst/>
          </a:prstGeom>
          <a:noFill/>
          <a:ln/>
        </p:spPr>
        <p:txBody>
          <a:bodyPr wrap="square" lIns="0" tIns="0" rIns="0" bIns="0" rtlCol="0" anchor="t">
            <a:normAutofit/>
          </a:bodyPr>
          <a:lstStyle/>
          <a:p>
            <a:pPr algn="l" indent="0" marL="0">
              <a:lnSpc>
                <a:spcPct val="110000"/>
              </a:lnSpc>
              <a:buNone/>
            </a:pPr>
            <a:r>
              <a:rPr lang="en-US" sz="2100" b="1" dirty="0">
                <a:solidFill>
                  <a:srgbClr val="16263D"/>
                </a:solidFill>
                <a:latin typeface="Atkinson Hyperlegible Bold" pitchFamily="34" charset="0"/>
                <a:ea typeface="Atkinson Hyperlegible Bold" pitchFamily="34" charset="-122"/>
                <a:cs typeface="Atkinson Hyperlegible Bold" pitchFamily="34" charset="-120"/>
              </a:rPr>
              <a:t>Updates live across Instagram, WhatsApp, posters, and word of mouth</a:t>
            </a:r>
            <a:endParaRPr lang="en-US" sz="2100" dirty="0"/>
          </a:p>
        </p:txBody>
      </p:sp>
      <p:sp>
        <p:nvSpPr>
          <p:cNvPr id="8" name="Shape 5"/>
          <p:cNvSpPr/>
          <p:nvPr/>
        </p:nvSpPr>
        <p:spPr>
          <a:xfrm>
            <a:off x="5359266" y="3086695"/>
            <a:ext cx="564243" cy="564257"/>
          </a:xfrm>
          <a:prstGeom prst="ellipse">
            <a:avLst/>
          </a:prstGeom>
          <a:solidFill>
            <a:srgbClr val="1F6BFF"/>
          </a:solidFill>
          <a:ln w="12700">
            <a:solidFill>
              <a:srgbClr val="D8D4D4"/>
            </a:solidFill>
            <a:prstDash val="solid"/>
          </a:ln>
          <a:effectLst>
            <a:outerShdw sx="100000" sy="100000" kx="0" ky="0" algn="bl" rotWithShape="0" blurRad="127" dist="29210" dir="2700000">
              <a:srgbClr val="d8d4d4">
                <a:alpha val="100000"/>
              </a:srgbClr>
            </a:outerShdw>
          </a:effectLst>
        </p:spPr>
      </p:sp>
      <p:sp>
        <p:nvSpPr>
          <p:cNvPr id="9" name="Text 6"/>
          <p:cNvSpPr/>
          <p:nvPr/>
        </p:nvSpPr>
        <p:spPr>
          <a:xfrm>
            <a:off x="5429114" y="3197324"/>
            <a:ext cx="1034131" cy="342900"/>
          </a:xfrm>
          <a:prstGeom prst="rect">
            <a:avLst/>
          </a:prstGeom>
          <a:noFill/>
          <a:ln/>
        </p:spPr>
        <p:txBody>
          <a:bodyPr wrap="none" lIns="0" tIns="0" rIns="0" bIns="0" rtlCol="0" anchor="t"/>
          <a:lstStyle/>
          <a:p>
            <a:pPr algn="l" indent="0" marL="0">
              <a:lnSpc>
                <a:spcPct val="83000"/>
              </a:lnSpc>
              <a:buNone/>
            </a:pPr>
            <a:r>
              <a:rPr lang="en-US" sz="2700" b="1" dirty="0">
                <a:solidFill>
                  <a:srgbClr val="FFFFFF"/>
                </a:solidFill>
                <a:latin typeface="Atkinson Hyperlegible Bold" pitchFamily="34" charset="0"/>
                <a:ea typeface="Atkinson Hyperlegible Bold" pitchFamily="34" charset="-122"/>
                <a:cs typeface="Atkinson Hyperlegible Bold" pitchFamily="34" charset="-120"/>
              </a:rPr>
              <a:t>02</a:t>
            </a:r>
            <a:endParaRPr lang="en-US" sz="2700" dirty="0"/>
          </a:p>
        </p:txBody>
      </p:sp>
      <p:sp>
        <p:nvSpPr>
          <p:cNvPr id="10" name="Text 7"/>
          <p:cNvSpPr/>
          <p:nvPr/>
        </p:nvSpPr>
        <p:spPr>
          <a:xfrm>
            <a:off x="6075905" y="3218851"/>
            <a:ext cx="5633202" cy="704056"/>
          </a:xfrm>
          <a:prstGeom prst="rect">
            <a:avLst/>
          </a:prstGeom>
          <a:noFill/>
          <a:ln/>
        </p:spPr>
        <p:txBody>
          <a:bodyPr wrap="square" lIns="0" tIns="0" rIns="0" bIns="0" rtlCol="0" anchor="t">
            <a:normAutofit/>
          </a:bodyPr>
          <a:lstStyle/>
          <a:p>
            <a:pPr algn="l" indent="0" marL="0">
              <a:lnSpc>
                <a:spcPct val="110000"/>
              </a:lnSpc>
              <a:buNone/>
            </a:pPr>
            <a:r>
              <a:rPr lang="en-US" sz="2100" b="1" dirty="0">
                <a:solidFill>
                  <a:srgbClr val="16263D"/>
                </a:solidFill>
                <a:latin typeface="Atkinson Hyperlegible Bold" pitchFamily="34" charset="0"/>
                <a:ea typeface="Atkinson Hyperlegible Bold" pitchFamily="34" charset="-122"/>
                <a:cs typeface="Atkinson Hyperlegible Bold" pitchFamily="34" charset="-120"/>
              </a:rPr>
              <a:t>There is no single place to search by category, cost, or interest</a:t>
            </a:r>
            <a:endParaRPr lang="en-US" sz="2100" dirty="0"/>
          </a:p>
        </p:txBody>
      </p:sp>
      <p:sp>
        <p:nvSpPr>
          <p:cNvPr id="11" name="Shape 8"/>
          <p:cNvSpPr/>
          <p:nvPr/>
        </p:nvSpPr>
        <p:spPr>
          <a:xfrm>
            <a:off x="5359266" y="4225230"/>
            <a:ext cx="570791" cy="570805"/>
          </a:xfrm>
          <a:prstGeom prst="ellipse">
            <a:avLst/>
          </a:prstGeom>
          <a:solidFill>
            <a:srgbClr val="1F6BFF"/>
          </a:solidFill>
          <a:ln w="12700">
            <a:solidFill>
              <a:srgbClr val="D8D4D4"/>
            </a:solidFill>
            <a:prstDash val="solid"/>
          </a:ln>
          <a:effectLst>
            <a:outerShdw sx="100000" sy="100000" kx="0" ky="0" algn="bl" rotWithShape="0" blurRad="127" dist="29210" dir="2700000">
              <a:srgbClr val="d8d4d4">
                <a:alpha val="100000"/>
              </a:srgbClr>
            </a:outerShdw>
          </a:effectLst>
        </p:spPr>
      </p:sp>
      <p:sp>
        <p:nvSpPr>
          <p:cNvPr id="12" name="Text 9"/>
          <p:cNvSpPr/>
          <p:nvPr/>
        </p:nvSpPr>
        <p:spPr>
          <a:xfrm>
            <a:off x="5429114" y="4339134"/>
            <a:ext cx="1040679" cy="342900"/>
          </a:xfrm>
          <a:prstGeom prst="rect">
            <a:avLst/>
          </a:prstGeom>
          <a:noFill/>
          <a:ln/>
        </p:spPr>
        <p:txBody>
          <a:bodyPr wrap="none" lIns="0" tIns="0" rIns="0" bIns="0" rtlCol="0" anchor="t"/>
          <a:lstStyle/>
          <a:p>
            <a:pPr algn="l" indent="0" marL="0">
              <a:lnSpc>
                <a:spcPct val="83000"/>
              </a:lnSpc>
              <a:buNone/>
            </a:pPr>
            <a:r>
              <a:rPr lang="en-US" sz="2700" b="1" dirty="0">
                <a:solidFill>
                  <a:srgbClr val="FFFFFF"/>
                </a:solidFill>
                <a:latin typeface="Atkinson Hyperlegible Bold" pitchFamily="34" charset="0"/>
                <a:ea typeface="Atkinson Hyperlegible Bold" pitchFamily="34" charset="-122"/>
                <a:cs typeface="Atkinson Hyperlegible Bold" pitchFamily="34" charset="-120"/>
              </a:rPr>
              <a:t>03</a:t>
            </a:r>
            <a:endParaRPr lang="en-US" sz="2700" dirty="0"/>
          </a:p>
        </p:txBody>
      </p:sp>
      <p:sp>
        <p:nvSpPr>
          <p:cNvPr id="13" name="Text 10"/>
          <p:cNvSpPr/>
          <p:nvPr/>
        </p:nvSpPr>
        <p:spPr>
          <a:xfrm>
            <a:off x="6082453" y="4360660"/>
            <a:ext cx="5626654" cy="704056"/>
          </a:xfrm>
          <a:prstGeom prst="rect">
            <a:avLst/>
          </a:prstGeom>
          <a:noFill/>
          <a:ln/>
        </p:spPr>
        <p:txBody>
          <a:bodyPr wrap="square" lIns="0" tIns="0" rIns="0" bIns="0" rtlCol="0" anchor="t">
            <a:normAutofit/>
          </a:bodyPr>
          <a:lstStyle/>
          <a:p>
            <a:pPr algn="l" indent="0" marL="0">
              <a:lnSpc>
                <a:spcPct val="110000"/>
              </a:lnSpc>
              <a:buNone/>
            </a:pPr>
            <a:r>
              <a:rPr lang="en-US" sz="2100" b="1" dirty="0">
                <a:solidFill>
                  <a:srgbClr val="16263D"/>
                </a:solidFill>
                <a:latin typeface="Atkinson Hyperlegible Bold" pitchFamily="34" charset="0"/>
                <a:ea typeface="Atkinson Hyperlegible Bold" pitchFamily="34" charset="-122"/>
                <a:cs typeface="Atkinson Hyperlegible Bold" pitchFamily="34" charset="-120"/>
              </a:rPr>
              <a:t>Organizers still rely on paper forms and manual coordination</a:t>
            </a:r>
            <a:endParaRPr lang="en-US" sz="2100" dirty="0"/>
          </a:p>
        </p:txBody>
      </p:sp>
      <p:sp>
        <p:nvSpPr>
          <p:cNvPr id="14" name="Shape 11"/>
          <p:cNvSpPr/>
          <p:nvPr/>
        </p:nvSpPr>
        <p:spPr>
          <a:xfrm>
            <a:off x="5359266" y="5367040"/>
            <a:ext cx="577935" cy="577949"/>
          </a:xfrm>
          <a:prstGeom prst="ellipse">
            <a:avLst/>
          </a:prstGeom>
          <a:solidFill>
            <a:srgbClr val="1F6BFF"/>
          </a:solidFill>
          <a:ln w="12700">
            <a:solidFill>
              <a:srgbClr val="D8D4D4"/>
            </a:solidFill>
            <a:prstDash val="solid"/>
          </a:ln>
          <a:effectLst>
            <a:outerShdw sx="100000" sy="100000" kx="0" ky="0" algn="bl" rotWithShape="0" blurRad="127" dist="29210" dir="2700000">
              <a:srgbClr val="d8d4d4">
                <a:alpha val="100000"/>
              </a:srgbClr>
            </a:outerShdw>
          </a:effectLst>
        </p:spPr>
      </p:sp>
      <p:sp>
        <p:nvSpPr>
          <p:cNvPr id="15" name="Text 12"/>
          <p:cNvSpPr/>
          <p:nvPr/>
        </p:nvSpPr>
        <p:spPr>
          <a:xfrm>
            <a:off x="5429114" y="5484515"/>
            <a:ext cx="1047823" cy="342900"/>
          </a:xfrm>
          <a:prstGeom prst="rect">
            <a:avLst/>
          </a:prstGeom>
          <a:noFill/>
          <a:ln/>
        </p:spPr>
        <p:txBody>
          <a:bodyPr wrap="none" lIns="0" tIns="0" rIns="0" bIns="0" rtlCol="0" anchor="t"/>
          <a:lstStyle/>
          <a:p>
            <a:pPr algn="l" indent="0" marL="0">
              <a:lnSpc>
                <a:spcPct val="83000"/>
              </a:lnSpc>
              <a:buNone/>
            </a:pPr>
            <a:r>
              <a:rPr lang="en-US" sz="2700" b="1" dirty="0">
                <a:solidFill>
                  <a:srgbClr val="FFFFFF"/>
                </a:solidFill>
                <a:latin typeface="Atkinson Hyperlegible Bold" pitchFamily="34" charset="0"/>
                <a:ea typeface="Atkinson Hyperlegible Bold" pitchFamily="34" charset="-122"/>
                <a:cs typeface="Atkinson Hyperlegible Bold" pitchFamily="34" charset="-120"/>
              </a:rPr>
              <a:t>04</a:t>
            </a:r>
            <a:endParaRPr lang="en-US" sz="2700" dirty="0"/>
          </a:p>
        </p:txBody>
      </p:sp>
      <p:sp>
        <p:nvSpPr>
          <p:cNvPr id="16" name="Text 13"/>
          <p:cNvSpPr/>
          <p:nvPr/>
        </p:nvSpPr>
        <p:spPr>
          <a:xfrm>
            <a:off x="6089597" y="5506041"/>
            <a:ext cx="5619510" cy="704056"/>
          </a:xfrm>
          <a:prstGeom prst="rect">
            <a:avLst/>
          </a:prstGeom>
          <a:noFill/>
          <a:ln/>
        </p:spPr>
        <p:txBody>
          <a:bodyPr wrap="square" lIns="0" tIns="0" rIns="0" bIns="0" rtlCol="0" anchor="t">
            <a:normAutofit/>
          </a:bodyPr>
          <a:lstStyle/>
          <a:p>
            <a:pPr algn="l" indent="0" marL="0">
              <a:lnSpc>
                <a:spcPct val="110000"/>
              </a:lnSpc>
              <a:buNone/>
            </a:pPr>
            <a:r>
              <a:rPr lang="en-US" sz="2100" b="1" dirty="0">
                <a:solidFill>
                  <a:srgbClr val="16263D"/>
                </a:solidFill>
                <a:latin typeface="Atkinson Hyperlegible Bold" pitchFamily="34" charset="0"/>
                <a:ea typeface="Atkinson Hyperlegible Bold" pitchFamily="34" charset="-122"/>
                <a:cs typeface="Atkinson Hyperlegible Bold" pitchFamily="34" charset="-120"/>
              </a:rPr>
              <a:t>Attendance data arrives late, if it arrives at all</a:t>
            </a:r>
            <a:endParaRPr lang="en-US" sz="2100" dirty="0"/>
          </a:p>
        </p:txBody>
      </p:sp>
      <p:sp>
        <p:nvSpPr>
          <p:cNvPr id="17" name="Shape 14"/>
          <p:cNvSpPr/>
          <p:nvPr/>
        </p:nvSpPr>
        <p:spPr>
          <a:xfrm>
            <a:off x="4851279" y="0"/>
            <a:ext cx="50799" cy="6858000"/>
          </a:xfrm>
          <a:prstGeom prst="rect">
            <a:avLst/>
          </a:prstGeom>
          <a:solidFill>
            <a:srgbClr val="1F6BFF"/>
          </a:solidFill>
          <a:ln/>
        </p:spPr>
      </p:sp>
      <p:sp>
        <p:nvSpPr>
          <p:cNvPr id="18" name="Shape 15"/>
          <p:cNvSpPr/>
          <p:nvPr/>
        </p:nvSpPr>
        <p:spPr>
          <a:xfrm>
            <a:off x="5257668" y="2915245"/>
            <a:ext cx="6553036" cy="38100"/>
          </a:xfrm>
          <a:prstGeom prst="rect">
            <a:avLst/>
          </a:prstGeom>
          <a:solidFill>
            <a:srgbClr val="1F6BFF"/>
          </a:solidFill>
          <a:ln/>
        </p:spPr>
      </p:sp>
      <p:sp>
        <p:nvSpPr>
          <p:cNvPr id="19" name="Shape 16"/>
          <p:cNvSpPr/>
          <p:nvPr/>
        </p:nvSpPr>
        <p:spPr>
          <a:xfrm>
            <a:off x="5257668" y="4053780"/>
            <a:ext cx="6553036" cy="38100"/>
          </a:xfrm>
          <a:prstGeom prst="rect">
            <a:avLst/>
          </a:prstGeom>
          <a:solidFill>
            <a:srgbClr val="1F6BFF"/>
          </a:solidFill>
          <a:ln/>
        </p:spPr>
      </p:sp>
      <p:sp>
        <p:nvSpPr>
          <p:cNvPr id="20" name="Shape 17"/>
          <p:cNvSpPr/>
          <p:nvPr/>
        </p:nvSpPr>
        <p:spPr>
          <a:xfrm>
            <a:off x="5257668" y="5195590"/>
            <a:ext cx="6553036" cy="38100"/>
          </a:xfrm>
          <a:prstGeom prst="rect">
            <a:avLst/>
          </a:prstGeom>
          <a:solidFill>
            <a:srgbClr val="1F6BFF"/>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80990" y="335525"/>
            <a:ext cx="11810705" cy="197148"/>
          </a:xfrm>
          <a:prstGeom prst="rect">
            <a:avLst/>
          </a:prstGeom>
          <a:noFill/>
          <a:ln/>
        </p:spPr>
        <p:txBody>
          <a:bodyPr wrap="none" lIns="0" tIns="0" rIns="0" bIns="0" rtlCol="0" anchor="t"/>
          <a:lstStyle/>
          <a:p>
            <a:pPr algn="l" indent="0" marL="0">
              <a:lnSpc>
                <a:spcPct val="96000"/>
              </a:lnSpc>
              <a:buNone/>
            </a:pPr>
            <a:r>
              <a:rPr lang="en-US" sz="1350" b="1" spc="94" kern="100" dirty="0">
                <a:solidFill>
                  <a:srgbClr val="1F6BFF"/>
                </a:solidFill>
                <a:latin typeface="Atkinson Hyperlegible Bold" pitchFamily="34" charset="0"/>
                <a:ea typeface="Atkinson Hyperlegible Bold" pitchFamily="34" charset="-122"/>
                <a:cs typeface="Atkinson Hyperlegible Bold" pitchFamily="34" charset="-120"/>
              </a:rPr>
              <a:t>ONE SHARED SYSTEM</a:t>
            </a:r>
            <a:endParaRPr lang="en-US" sz="1350" dirty="0"/>
          </a:p>
        </p:txBody>
      </p:sp>
      <p:sp>
        <p:nvSpPr>
          <p:cNvPr id="3" name="Text 1"/>
          <p:cNvSpPr/>
          <p:nvPr/>
        </p:nvSpPr>
        <p:spPr>
          <a:xfrm>
            <a:off x="380990" y="651605"/>
            <a:ext cx="11429714" cy="1095177"/>
          </a:xfrm>
          <a:prstGeom prst="rect">
            <a:avLst/>
          </a:prstGeom>
          <a:noFill/>
          <a:ln/>
        </p:spPr>
        <p:txBody>
          <a:bodyPr wrap="square" lIns="0" tIns="0" rIns="0" bIns="0" rtlCol="0" anchor="t">
            <a:normAutofit/>
          </a:bodyPr>
          <a:lstStyle/>
          <a:p>
            <a:pPr algn="l" indent="0" marL="0">
              <a:lnSpc>
                <a:spcPct val="82000"/>
              </a:lnSpc>
              <a:buNone/>
            </a:pPr>
            <a:r>
              <a:rPr lang="en-US" sz="4400" spc="44" kern="100" dirty="0">
                <a:solidFill>
                  <a:srgbClr val="0A1A33"/>
                </a:solidFill>
                <a:latin typeface="Bangers" pitchFamily="34" charset="0"/>
                <a:ea typeface="Bangers" pitchFamily="34" charset="-122"/>
                <a:cs typeface="Bangers" pitchFamily="34" charset="-120"/>
              </a:rPr>
              <a:t>ONE PLATFORM CONNECTS THE STUDENT AND ORGANIZER SIDES</a:t>
            </a:r>
            <a:endParaRPr lang="en-US" sz="4400" dirty="0"/>
          </a:p>
        </p:txBody>
      </p:sp>
      <p:sp>
        <p:nvSpPr>
          <p:cNvPr id="4" name="Shape 2"/>
          <p:cNvSpPr/>
          <p:nvPr/>
        </p:nvSpPr>
        <p:spPr>
          <a:xfrm>
            <a:off x="380990" y="1920974"/>
            <a:ext cx="5714857" cy="3657898"/>
          </a:xfrm>
          <a:custGeom>
            <a:avLst/>
            <a:gdLst/>
            <a:ahLst/>
            <a:cxnLst/>
            <a:rect l="l" t="t" r="r" b="b"/>
            <a:pathLst>
              <a:path w="5714857" h="3657898">
                <a:moveTo>
                  <a:pt x="9525" y="0"/>
                </a:moveTo>
                <a:lnTo>
                  <a:pt x="5714857" y="0"/>
                </a:lnTo>
                <a:lnTo>
                  <a:pt x="5714857" y="3657898"/>
                </a:lnTo>
                <a:lnTo>
                  <a:pt x="9525" y="3657898"/>
                </a:lnTo>
                <a:arcTo hR="9525" wR="9525" stAng="5400000" swAng="5400000"/>
                <a:lnTo>
                  <a:pt x="0" y="9525"/>
                </a:lnTo>
                <a:arcTo hR="9525" wR="9525" stAng="10800000" swAng="5400000"/>
                <a:close/>
              </a:path>
            </a:pathLst>
          </a:custGeom>
          <a:solidFill>
            <a:srgbClr val="0E2A4F"/>
          </a:solidFill>
          <a:ln/>
        </p:spPr>
      </p:sp>
      <p:pic>
        <p:nvPicPr>
          <p:cNvPr id="5" name="Image 0" descr="preencoded.png">    </p:cNvPr>
          <p:cNvPicPr>
            <a:picLocks noChangeAspect="1"/>
          </p:cNvPicPr>
          <p:nvPr/>
        </p:nvPicPr>
        <p:blipFill>
          <a:blip r:embed="rId1"/>
          <a:stretch>
            <a:fillRect/>
          </a:stretch>
        </p:blipFill>
        <p:spPr>
          <a:xfrm>
            <a:off x="660383" y="2174974"/>
            <a:ext cx="457189" cy="457200"/>
          </a:xfrm>
          <a:prstGeom prst="rect">
            <a:avLst/>
          </a:prstGeom>
        </p:spPr>
      </p:pic>
      <p:sp>
        <p:nvSpPr>
          <p:cNvPr id="6" name="Text 3"/>
          <p:cNvSpPr/>
          <p:nvPr/>
        </p:nvSpPr>
        <p:spPr>
          <a:xfrm>
            <a:off x="660383" y="2773144"/>
            <a:ext cx="5156071" cy="426641"/>
          </a:xfrm>
          <a:prstGeom prst="rect">
            <a:avLst/>
          </a:prstGeom>
          <a:noFill/>
          <a:ln/>
        </p:spPr>
        <p:txBody>
          <a:bodyPr wrap="none" lIns="0" tIns="0" rIns="0" bIns="0" rtlCol="0" anchor="t"/>
          <a:lstStyle/>
          <a:p>
            <a:pPr algn="l" indent="0" marL="0">
              <a:lnSpc>
                <a:spcPct val="93000"/>
              </a:lnSpc>
              <a:buNone/>
            </a:pPr>
            <a:r>
              <a:rPr lang="en-US" sz="3000" b="1" dirty="0">
                <a:solidFill>
                  <a:srgbClr val="FFFFFF"/>
                </a:solidFill>
                <a:latin typeface="Atkinson Hyperlegible Bold" pitchFamily="34" charset="0"/>
                <a:ea typeface="Atkinson Hyperlegible Bold" pitchFamily="34" charset="-122"/>
                <a:cs typeface="Atkinson Hyperlegible Bold" pitchFamily="34" charset="-120"/>
              </a:rPr>
              <a:t>Students</a:t>
            </a:r>
            <a:endParaRPr lang="en-US" sz="3000" dirty="0"/>
          </a:p>
        </p:txBody>
      </p:sp>
      <p:sp>
        <p:nvSpPr>
          <p:cNvPr id="7" name="Text 4"/>
          <p:cNvSpPr/>
          <p:nvPr/>
        </p:nvSpPr>
        <p:spPr>
          <a:xfrm>
            <a:off x="660383" y="3337516"/>
            <a:ext cx="5156071" cy="704056"/>
          </a:xfrm>
          <a:prstGeom prst="rect">
            <a:avLst/>
          </a:prstGeom>
          <a:noFill/>
          <a:ln/>
        </p:spPr>
        <p:txBody>
          <a:bodyPr wrap="square" lIns="0" tIns="0" rIns="0" bIns="0" rtlCol="0" anchor="t">
            <a:normAutofit/>
          </a:bodyPr>
          <a:lstStyle/>
          <a:p>
            <a:pPr algn="l" indent="0" marL="0">
              <a:lnSpc>
                <a:spcPct val="110000"/>
              </a:lnSpc>
              <a:buNone/>
            </a:pPr>
            <a:r>
              <a:rPr lang="en-US" sz="2100" dirty="0">
                <a:solidFill>
                  <a:srgbClr val="FFFFFF"/>
                </a:solidFill>
                <a:latin typeface="Atkinson Hyperlegible" pitchFamily="34" charset="0"/>
                <a:ea typeface="Atkinson Hyperlegible" pitchFamily="34" charset="-122"/>
                <a:cs typeface="Atkinson Hyperlegible" pitchFamily="34" charset="-120"/>
              </a:rPr>
              <a:t>Students discover, filter, register, and receive a digital ticket.</a:t>
            </a:r>
            <a:endParaRPr lang="en-US" sz="2100" dirty="0"/>
          </a:p>
        </p:txBody>
      </p:sp>
      <p:sp>
        <p:nvSpPr>
          <p:cNvPr id="8" name="Shape 5"/>
          <p:cNvSpPr/>
          <p:nvPr/>
        </p:nvSpPr>
        <p:spPr>
          <a:xfrm>
            <a:off x="6095848" y="1920974"/>
            <a:ext cx="5714857" cy="3657898"/>
          </a:xfrm>
          <a:custGeom>
            <a:avLst/>
            <a:gdLst/>
            <a:ahLst/>
            <a:cxnLst/>
            <a:rect l="l" t="t" r="r" b="b"/>
            <a:pathLst>
              <a:path w="5714857" h="3657898">
                <a:moveTo>
                  <a:pt x="0" y="0"/>
                </a:moveTo>
                <a:lnTo>
                  <a:pt x="5705332" y="0"/>
                </a:lnTo>
                <a:arcTo hR="9525" wR="9525" stAng="16200000" swAng="5400000"/>
                <a:lnTo>
                  <a:pt x="5714857" y="3648373"/>
                </a:lnTo>
                <a:arcTo hR="9525" wR="9525" stAng="0" swAng="5400000"/>
                <a:lnTo>
                  <a:pt x="0" y="3657898"/>
                </a:lnTo>
                <a:lnTo>
                  <a:pt x="0" y="0"/>
                </a:lnTo>
                <a:close/>
              </a:path>
            </a:pathLst>
          </a:custGeom>
          <a:solidFill>
            <a:srgbClr val="16365F"/>
          </a:solidFill>
          <a:ln/>
        </p:spPr>
      </p:sp>
      <p:pic>
        <p:nvPicPr>
          <p:cNvPr id="9" name="Image 1" descr="preencoded.png">    </p:cNvPr>
          <p:cNvPicPr>
            <a:picLocks noChangeAspect="1"/>
          </p:cNvPicPr>
          <p:nvPr/>
        </p:nvPicPr>
        <p:blipFill>
          <a:blip r:embed="rId2"/>
          <a:stretch>
            <a:fillRect/>
          </a:stretch>
        </p:blipFill>
        <p:spPr>
          <a:xfrm>
            <a:off x="6375241" y="2174974"/>
            <a:ext cx="457189" cy="457200"/>
          </a:xfrm>
          <a:prstGeom prst="rect">
            <a:avLst/>
          </a:prstGeom>
        </p:spPr>
      </p:pic>
      <p:sp>
        <p:nvSpPr>
          <p:cNvPr id="10" name="Text 6"/>
          <p:cNvSpPr/>
          <p:nvPr/>
        </p:nvSpPr>
        <p:spPr>
          <a:xfrm>
            <a:off x="6375241" y="2773144"/>
            <a:ext cx="5156071" cy="426641"/>
          </a:xfrm>
          <a:prstGeom prst="rect">
            <a:avLst/>
          </a:prstGeom>
          <a:noFill/>
          <a:ln/>
        </p:spPr>
        <p:txBody>
          <a:bodyPr wrap="none" lIns="0" tIns="0" rIns="0" bIns="0" rtlCol="0" anchor="t"/>
          <a:lstStyle/>
          <a:p>
            <a:pPr algn="l" indent="0" marL="0">
              <a:lnSpc>
                <a:spcPct val="93000"/>
              </a:lnSpc>
              <a:buNone/>
            </a:pPr>
            <a:r>
              <a:rPr lang="en-US" sz="3000" b="1" dirty="0">
                <a:solidFill>
                  <a:srgbClr val="FFFFFF"/>
                </a:solidFill>
                <a:latin typeface="Atkinson Hyperlegible Bold" pitchFamily="34" charset="0"/>
                <a:ea typeface="Atkinson Hyperlegible Bold" pitchFamily="34" charset="-122"/>
                <a:cs typeface="Atkinson Hyperlegible Bold" pitchFamily="34" charset="-120"/>
              </a:rPr>
              <a:t>Organizers</a:t>
            </a:r>
            <a:endParaRPr lang="en-US" sz="3000" dirty="0"/>
          </a:p>
        </p:txBody>
      </p:sp>
      <p:sp>
        <p:nvSpPr>
          <p:cNvPr id="11" name="Text 7"/>
          <p:cNvSpPr/>
          <p:nvPr/>
        </p:nvSpPr>
        <p:spPr>
          <a:xfrm>
            <a:off x="6375241" y="3337516"/>
            <a:ext cx="5156071" cy="704056"/>
          </a:xfrm>
          <a:prstGeom prst="rect">
            <a:avLst/>
          </a:prstGeom>
          <a:noFill/>
          <a:ln/>
        </p:spPr>
        <p:txBody>
          <a:bodyPr wrap="square" lIns="0" tIns="0" rIns="0" bIns="0" rtlCol="0" anchor="t">
            <a:normAutofit/>
          </a:bodyPr>
          <a:lstStyle/>
          <a:p>
            <a:pPr algn="l" indent="0" marL="0">
              <a:lnSpc>
                <a:spcPct val="110000"/>
              </a:lnSpc>
              <a:buNone/>
            </a:pPr>
            <a:r>
              <a:rPr lang="en-US" sz="2100" dirty="0">
                <a:solidFill>
                  <a:srgbClr val="FFFFFF"/>
                </a:solidFill>
                <a:latin typeface="Atkinson Hyperlegible" pitchFamily="34" charset="0"/>
                <a:ea typeface="Atkinson Hyperlegible" pitchFamily="34" charset="-122"/>
                <a:cs typeface="Atkinson Hyperlegible" pitchFamily="34" charset="-120"/>
              </a:rPr>
              <a:t>Organizers publish events, manage capacity, and track check-ins.</a:t>
            </a:r>
            <a:endParaRPr lang="en-US" sz="2100" dirty="0"/>
          </a:p>
        </p:txBody>
      </p:sp>
      <p:sp>
        <p:nvSpPr>
          <p:cNvPr id="12" name="Shape 8"/>
          <p:cNvSpPr/>
          <p:nvPr/>
        </p:nvSpPr>
        <p:spPr>
          <a:xfrm>
            <a:off x="380990" y="5769372"/>
            <a:ext cx="11429714" cy="707628"/>
          </a:xfrm>
          <a:prstGeom prst="rect">
            <a:avLst/>
          </a:prstGeom>
          <a:solidFill>
            <a:srgbClr val="FFFFFF"/>
          </a:solidFill>
          <a:ln/>
        </p:spPr>
      </p:sp>
      <p:sp>
        <p:nvSpPr>
          <p:cNvPr id="13" name="Text 9"/>
          <p:cNvSpPr/>
          <p:nvPr/>
        </p:nvSpPr>
        <p:spPr>
          <a:xfrm>
            <a:off x="380990" y="5949648"/>
            <a:ext cx="11429714" cy="352028"/>
          </a:xfrm>
          <a:prstGeom prst="rect">
            <a:avLst/>
          </a:prstGeom>
          <a:noFill/>
          <a:ln/>
        </p:spPr>
        <p:txBody>
          <a:bodyPr wrap="none" lIns="0" tIns="0" rIns="0" bIns="0" rtlCol="0" anchor="t"/>
          <a:lstStyle/>
          <a:p>
            <a:pPr algn="ctr" indent="0" marL="0">
              <a:lnSpc>
                <a:spcPct val="110000"/>
              </a:lnSpc>
              <a:buNone/>
            </a:pPr>
            <a:r>
              <a:rPr lang="en-US" sz="2100" b="1" dirty="0">
                <a:solidFill>
                  <a:srgbClr val="16263D"/>
                </a:solidFill>
                <a:latin typeface="Atkinson Hyperlegible Bold" pitchFamily="34" charset="0"/>
                <a:ea typeface="Atkinson Hyperlegible Bold" pitchFamily="34" charset="-122"/>
                <a:cs typeface="Atkinson Hyperlegible Bold" pitchFamily="34" charset="-120"/>
              </a:rPr>
              <a:t>One shared system replaces scattered updates and guesswork.</a:t>
            </a:r>
            <a:endParaRPr lang="en-US" sz="2100" dirty="0"/>
          </a:p>
        </p:txBody>
      </p:sp>
      <p:sp>
        <p:nvSpPr>
          <p:cNvPr id="14" name="Shape 10"/>
          <p:cNvSpPr/>
          <p:nvPr/>
        </p:nvSpPr>
        <p:spPr>
          <a:xfrm>
            <a:off x="6064098" y="1920974"/>
            <a:ext cx="63498" cy="3657898"/>
          </a:xfrm>
          <a:prstGeom prst="rect">
            <a:avLst/>
          </a:prstGeom>
          <a:solidFill>
            <a:srgbClr val="1F6BFF"/>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06390" y="360925"/>
            <a:ext cx="11785305" cy="197148"/>
          </a:xfrm>
          <a:prstGeom prst="rect">
            <a:avLst/>
          </a:prstGeom>
          <a:noFill/>
          <a:ln/>
        </p:spPr>
        <p:txBody>
          <a:bodyPr wrap="none" lIns="0" tIns="0" rIns="0" bIns="0" rtlCol="0" anchor="t"/>
          <a:lstStyle/>
          <a:p>
            <a:pPr algn="l" indent="0" marL="0">
              <a:lnSpc>
                <a:spcPct val="96000"/>
              </a:lnSpc>
              <a:buNone/>
            </a:pPr>
            <a:r>
              <a:rPr lang="en-US" sz="1350" b="1" spc="94" kern="100" dirty="0">
                <a:solidFill>
                  <a:srgbClr val="1F6BFF"/>
                </a:solidFill>
                <a:latin typeface="Atkinson Hyperlegible Bold" pitchFamily="34" charset="0"/>
                <a:ea typeface="Atkinson Hyperlegible Bold" pitchFamily="34" charset="-122"/>
                <a:cs typeface="Atkinson Hyperlegible Bold" pitchFamily="34" charset="-120"/>
              </a:rPr>
              <a:t>STUDENT JOURNEY · DISCOVERY</a:t>
            </a:r>
            <a:endParaRPr lang="en-US" sz="1350" dirty="0"/>
          </a:p>
        </p:txBody>
      </p:sp>
      <p:sp>
        <p:nvSpPr>
          <p:cNvPr id="3" name="Text 1"/>
          <p:cNvSpPr/>
          <p:nvPr/>
        </p:nvSpPr>
        <p:spPr>
          <a:xfrm>
            <a:off x="406390" y="677005"/>
            <a:ext cx="11378915" cy="547588"/>
          </a:xfrm>
          <a:prstGeom prst="rect">
            <a:avLst/>
          </a:prstGeom>
          <a:noFill/>
          <a:ln/>
        </p:spPr>
        <p:txBody>
          <a:bodyPr wrap="none" lIns="0" tIns="0" rIns="0" bIns="0" rtlCol="0" anchor="t"/>
          <a:lstStyle/>
          <a:p>
            <a:pPr algn="l" indent="0" marL="0">
              <a:lnSpc>
                <a:spcPct val="82000"/>
              </a:lnSpc>
              <a:buNone/>
            </a:pPr>
            <a:r>
              <a:rPr lang="en-US" sz="4400" spc="44" kern="100" dirty="0">
                <a:solidFill>
                  <a:srgbClr val="0A1A33"/>
                </a:solidFill>
                <a:latin typeface="Bangers" pitchFamily="34" charset="0"/>
                <a:ea typeface="Bangers" pitchFamily="34" charset="-122"/>
                <a:cs typeface="Bangers" pitchFamily="34" charset="-120"/>
              </a:rPr>
              <a:t>FINDING THE RIGHT EVENT TAKES SECONDS</a:t>
            </a:r>
            <a:endParaRPr lang="en-US" sz="4400" dirty="0"/>
          </a:p>
        </p:txBody>
      </p:sp>
      <p:sp>
        <p:nvSpPr>
          <p:cNvPr id="4" name="Text 2"/>
          <p:cNvSpPr/>
          <p:nvPr/>
        </p:nvSpPr>
        <p:spPr>
          <a:xfrm>
            <a:off x="406390" y="1405249"/>
            <a:ext cx="11785305" cy="182563"/>
          </a:xfrm>
          <a:prstGeom prst="rect">
            <a:avLst/>
          </a:prstGeom>
          <a:noFill/>
          <a:ln/>
        </p:spPr>
        <p:txBody>
          <a:bodyPr wrap="none" lIns="0" tIns="0" rIns="0" bIns="0" rtlCol="0" anchor="t"/>
          <a:lstStyle/>
          <a:p>
            <a:pPr algn="l" indent="0" marL="0">
              <a:lnSpc>
                <a:spcPct val="96000"/>
              </a:lnSpc>
              <a:buNone/>
            </a:pPr>
            <a:r>
              <a:rPr lang="en-US" sz="1250" b="1" spc="12" kern="100" dirty="0">
                <a:solidFill>
                  <a:srgbClr val="16263D"/>
                </a:solidFill>
                <a:latin typeface="Atkinson Hyperlegible Bold" pitchFamily="34" charset="0"/>
                <a:ea typeface="Atkinson Hyperlegible Bold" pitchFamily="34" charset="-122"/>
                <a:cs typeface="Atkinson Hyperlegible Bold" pitchFamily="34" charset="-120"/>
              </a:rPr>
              <a:t>A short path from sign-in to a useful event feed.</a:t>
            </a:r>
            <a:endParaRPr lang="en-US" sz="1250" dirty="0"/>
          </a:p>
        </p:txBody>
      </p:sp>
      <p:pic>
        <p:nvPicPr>
          <p:cNvPr id="5" name="Image 0" descr="preencoded.png">    </p:cNvPr>
          <p:cNvPicPr>
            <a:picLocks noChangeAspect="1"/>
          </p:cNvPicPr>
          <p:nvPr/>
        </p:nvPicPr>
        <p:blipFill>
          <a:blip r:embed="rId1"/>
          <a:stretch>
            <a:fillRect/>
          </a:stretch>
        </p:blipFill>
        <p:spPr>
          <a:xfrm>
            <a:off x="634984" y="2950270"/>
            <a:ext cx="571486" cy="571500"/>
          </a:xfrm>
          <a:prstGeom prst="rect">
            <a:avLst/>
          </a:prstGeom>
        </p:spPr>
      </p:pic>
      <p:sp>
        <p:nvSpPr>
          <p:cNvPr id="6" name="Text 3"/>
          <p:cNvSpPr/>
          <p:nvPr/>
        </p:nvSpPr>
        <p:spPr>
          <a:xfrm>
            <a:off x="634984" y="3724525"/>
            <a:ext cx="3335750" cy="312837"/>
          </a:xfrm>
          <a:prstGeom prst="rect">
            <a:avLst/>
          </a:prstGeom>
          <a:noFill/>
          <a:ln/>
        </p:spPr>
        <p:txBody>
          <a:bodyPr wrap="none" lIns="0" tIns="0" rIns="0" bIns="0" rtlCol="0" anchor="t"/>
          <a:lstStyle/>
          <a:p>
            <a:pPr algn="l" indent="0" marL="0">
              <a:lnSpc>
                <a:spcPct val="93000"/>
              </a:lnSpc>
              <a:buNone/>
            </a:pPr>
            <a:r>
              <a:rPr lang="en-US" sz="2200" b="1" dirty="0">
                <a:solidFill>
                  <a:srgbClr val="0A1A33"/>
                </a:solidFill>
                <a:latin typeface="Atkinson Hyperlegible Bold" pitchFamily="34" charset="0"/>
                <a:ea typeface="Atkinson Hyperlegible Bold" pitchFamily="34" charset="-122"/>
                <a:cs typeface="Atkinson Hyperlegible Bold" pitchFamily="34" charset="-120"/>
              </a:rPr>
              <a:t>Onboard</a:t>
            </a:r>
            <a:endParaRPr lang="en-US" sz="2200" dirty="0"/>
          </a:p>
        </p:txBody>
      </p:sp>
      <p:sp>
        <p:nvSpPr>
          <p:cNvPr id="7" name="Text 4"/>
          <p:cNvSpPr/>
          <p:nvPr/>
        </p:nvSpPr>
        <p:spPr>
          <a:xfrm>
            <a:off x="634984" y="4178268"/>
            <a:ext cx="3335750" cy="905173"/>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6263D"/>
                </a:solidFill>
                <a:latin typeface="Atkinson Hyperlegible" pitchFamily="34" charset="0"/>
                <a:ea typeface="Atkinson Hyperlegible" pitchFamily="34" charset="-122"/>
                <a:cs typeface="Atkinson Hyperlegible" pitchFamily="34" charset="-120"/>
              </a:rPr>
              <a:t>Simple onboarding captures registration number and department.</a:t>
            </a:r>
            <a:endParaRPr lang="en-US" sz="1800" dirty="0"/>
          </a:p>
        </p:txBody>
      </p:sp>
      <p:pic>
        <p:nvPicPr>
          <p:cNvPr id="8" name="Image 1" descr="preencoded.png">    </p:cNvPr>
          <p:cNvPicPr>
            <a:picLocks noChangeAspect="1"/>
          </p:cNvPicPr>
          <p:nvPr/>
        </p:nvPicPr>
        <p:blipFill>
          <a:blip r:embed="rId2"/>
          <a:stretch>
            <a:fillRect/>
          </a:stretch>
        </p:blipFill>
        <p:spPr>
          <a:xfrm>
            <a:off x="4427923" y="2950270"/>
            <a:ext cx="571486" cy="571500"/>
          </a:xfrm>
          <a:prstGeom prst="rect">
            <a:avLst/>
          </a:prstGeom>
        </p:spPr>
      </p:pic>
      <p:sp>
        <p:nvSpPr>
          <p:cNvPr id="9" name="Text 5"/>
          <p:cNvSpPr/>
          <p:nvPr/>
        </p:nvSpPr>
        <p:spPr>
          <a:xfrm>
            <a:off x="4427923" y="3724525"/>
            <a:ext cx="3335750" cy="312837"/>
          </a:xfrm>
          <a:prstGeom prst="rect">
            <a:avLst/>
          </a:prstGeom>
          <a:noFill/>
          <a:ln/>
        </p:spPr>
        <p:txBody>
          <a:bodyPr wrap="none" lIns="0" tIns="0" rIns="0" bIns="0" rtlCol="0" anchor="t"/>
          <a:lstStyle/>
          <a:p>
            <a:pPr algn="l" indent="0" marL="0">
              <a:lnSpc>
                <a:spcPct val="93000"/>
              </a:lnSpc>
              <a:buNone/>
            </a:pPr>
            <a:r>
              <a:rPr lang="en-US" sz="2200" b="1" dirty="0">
                <a:solidFill>
                  <a:srgbClr val="0A1A33"/>
                </a:solidFill>
                <a:latin typeface="Atkinson Hyperlegible Bold" pitchFamily="34" charset="0"/>
                <a:ea typeface="Atkinson Hyperlegible Bold" pitchFamily="34" charset="-122"/>
                <a:cs typeface="Atkinson Hyperlegible Bold" pitchFamily="34" charset="-120"/>
              </a:rPr>
              <a:t>See the feed</a:t>
            </a:r>
            <a:endParaRPr lang="en-US" sz="2200" dirty="0"/>
          </a:p>
        </p:txBody>
      </p:sp>
      <p:sp>
        <p:nvSpPr>
          <p:cNvPr id="10" name="Text 6"/>
          <p:cNvSpPr/>
          <p:nvPr/>
        </p:nvSpPr>
        <p:spPr>
          <a:xfrm>
            <a:off x="4427923" y="4178268"/>
            <a:ext cx="3335750"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6263D"/>
                </a:solidFill>
                <a:latin typeface="Atkinson Hyperlegible" pitchFamily="34" charset="0"/>
                <a:ea typeface="Atkinson Hyperlegible" pitchFamily="34" charset="-122"/>
                <a:cs typeface="Atkinson Hyperlegible" pitchFamily="34" charset="-120"/>
              </a:rPr>
              <a:t>A smart feed brings campus events into one view.</a:t>
            </a:r>
            <a:endParaRPr lang="en-US" sz="1800" dirty="0"/>
          </a:p>
        </p:txBody>
      </p:sp>
      <p:pic>
        <p:nvPicPr>
          <p:cNvPr id="11" name="Image 2" descr="preencoded.png">    </p:cNvPr>
          <p:cNvPicPr>
            <a:picLocks noChangeAspect="1"/>
          </p:cNvPicPr>
          <p:nvPr/>
        </p:nvPicPr>
        <p:blipFill>
          <a:blip r:embed="rId3"/>
          <a:stretch>
            <a:fillRect/>
          </a:stretch>
        </p:blipFill>
        <p:spPr>
          <a:xfrm>
            <a:off x="8220862" y="2950270"/>
            <a:ext cx="571486" cy="571500"/>
          </a:xfrm>
          <a:prstGeom prst="rect">
            <a:avLst/>
          </a:prstGeom>
        </p:spPr>
      </p:pic>
      <p:sp>
        <p:nvSpPr>
          <p:cNvPr id="12" name="Text 7"/>
          <p:cNvSpPr/>
          <p:nvPr/>
        </p:nvSpPr>
        <p:spPr>
          <a:xfrm>
            <a:off x="8220862" y="3724525"/>
            <a:ext cx="3335750" cy="312837"/>
          </a:xfrm>
          <a:prstGeom prst="rect">
            <a:avLst/>
          </a:prstGeom>
          <a:noFill/>
          <a:ln/>
        </p:spPr>
        <p:txBody>
          <a:bodyPr wrap="none" lIns="0" tIns="0" rIns="0" bIns="0" rtlCol="0" anchor="t"/>
          <a:lstStyle/>
          <a:p>
            <a:pPr algn="l" indent="0" marL="0">
              <a:lnSpc>
                <a:spcPct val="93000"/>
              </a:lnSpc>
              <a:buNone/>
            </a:pPr>
            <a:r>
              <a:rPr lang="en-US" sz="2200" b="1" dirty="0">
                <a:solidFill>
                  <a:srgbClr val="0A1A33"/>
                </a:solidFill>
                <a:latin typeface="Atkinson Hyperlegible Bold" pitchFamily="34" charset="0"/>
                <a:ea typeface="Atkinson Hyperlegible Bold" pitchFamily="34" charset="-122"/>
                <a:cs typeface="Atkinson Hyperlegible Bold" pitchFamily="34" charset="-120"/>
              </a:rPr>
              <a:t>Filter</a:t>
            </a:r>
            <a:endParaRPr lang="en-US" sz="2200" dirty="0"/>
          </a:p>
        </p:txBody>
      </p:sp>
      <p:sp>
        <p:nvSpPr>
          <p:cNvPr id="13" name="Text 8"/>
          <p:cNvSpPr/>
          <p:nvPr/>
        </p:nvSpPr>
        <p:spPr>
          <a:xfrm>
            <a:off x="8220862" y="4178268"/>
            <a:ext cx="3335750"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6263D"/>
                </a:solidFill>
                <a:latin typeface="Atkinson Hyperlegible" pitchFamily="34" charset="0"/>
                <a:ea typeface="Atkinson Hyperlegible" pitchFamily="34" charset="-122"/>
                <a:cs typeface="Atkinson Hyperlegible" pitchFamily="34" charset="-120"/>
              </a:rPr>
              <a:t>Category and cost filters make discovery feel personal.</a:t>
            </a:r>
            <a:endParaRPr lang="en-US" sz="1800" dirty="0"/>
          </a:p>
        </p:txBody>
      </p:sp>
      <p:sp>
        <p:nvSpPr>
          <p:cNvPr id="14" name="Shape 9"/>
          <p:cNvSpPr/>
          <p:nvPr/>
        </p:nvSpPr>
        <p:spPr>
          <a:xfrm>
            <a:off x="4192979" y="2797870"/>
            <a:ext cx="12700" cy="2437209"/>
          </a:xfrm>
          <a:prstGeom prst="rect">
            <a:avLst/>
          </a:prstGeom>
          <a:solidFill>
            <a:srgbClr val="1F6BFF"/>
          </a:solidFill>
          <a:ln/>
        </p:spPr>
      </p:sp>
      <p:sp>
        <p:nvSpPr>
          <p:cNvPr id="15" name="Shape 10"/>
          <p:cNvSpPr/>
          <p:nvPr/>
        </p:nvSpPr>
        <p:spPr>
          <a:xfrm>
            <a:off x="7985917" y="2797870"/>
            <a:ext cx="12700" cy="2437209"/>
          </a:xfrm>
          <a:prstGeom prst="rect">
            <a:avLst/>
          </a:prstGeom>
          <a:solidFill>
            <a:srgbClr val="1F6B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80990" y="360925"/>
            <a:ext cx="6527637" cy="197148"/>
          </a:xfrm>
          <a:prstGeom prst="rect">
            <a:avLst/>
          </a:prstGeom>
          <a:noFill/>
          <a:ln/>
        </p:spPr>
        <p:txBody>
          <a:bodyPr wrap="none" lIns="0" tIns="0" rIns="0" bIns="0" rtlCol="0" anchor="t"/>
          <a:lstStyle/>
          <a:p>
            <a:pPr algn="l" indent="0" marL="0">
              <a:lnSpc>
                <a:spcPct val="96000"/>
              </a:lnSpc>
              <a:buNone/>
            </a:pPr>
            <a:r>
              <a:rPr lang="en-US" sz="1350" b="1" spc="94" kern="100" dirty="0">
                <a:solidFill>
                  <a:srgbClr val="1F6BFF"/>
                </a:solidFill>
                <a:latin typeface="Atkinson Hyperlegible Bold" pitchFamily="34" charset="0"/>
                <a:ea typeface="Atkinson Hyperlegible Bold" pitchFamily="34" charset="-122"/>
                <a:cs typeface="Atkinson Hyperlegible Bold" pitchFamily="34" charset="-120"/>
              </a:rPr>
              <a:t>STUDENT JOURNEY · REGISTRATION</a:t>
            </a:r>
            <a:endParaRPr lang="en-US" sz="1350" dirty="0"/>
          </a:p>
        </p:txBody>
      </p:sp>
      <p:sp>
        <p:nvSpPr>
          <p:cNvPr id="3" name="Text 1"/>
          <p:cNvSpPr/>
          <p:nvPr/>
        </p:nvSpPr>
        <p:spPr>
          <a:xfrm>
            <a:off x="380990" y="677005"/>
            <a:ext cx="6146646" cy="1095177"/>
          </a:xfrm>
          <a:prstGeom prst="rect">
            <a:avLst/>
          </a:prstGeom>
          <a:noFill/>
          <a:ln/>
        </p:spPr>
        <p:txBody>
          <a:bodyPr wrap="square" lIns="0" tIns="0" rIns="0" bIns="0" rtlCol="0" anchor="t">
            <a:normAutofit/>
          </a:bodyPr>
          <a:lstStyle/>
          <a:p>
            <a:pPr algn="l" indent="0" marL="0">
              <a:lnSpc>
                <a:spcPct val="82000"/>
              </a:lnSpc>
              <a:buNone/>
            </a:pPr>
            <a:r>
              <a:rPr lang="en-US" sz="4400" spc="44" kern="100" dirty="0">
                <a:solidFill>
                  <a:srgbClr val="0A1A33"/>
                </a:solidFill>
                <a:latin typeface="Bangers" pitchFamily="34" charset="0"/>
                <a:ea typeface="Bangers" pitchFamily="34" charset="-122"/>
                <a:cs typeface="Bangers" pitchFamily="34" charset="-120"/>
              </a:rPr>
              <a:t>REGISTRATION ENDS WITH A TICKET YOU CAN ACTUALLY USE</a:t>
            </a:r>
            <a:endParaRPr lang="en-US" sz="4400" dirty="0"/>
          </a:p>
        </p:txBody>
      </p:sp>
      <p:sp>
        <p:nvSpPr>
          <p:cNvPr id="4" name="Shape 2"/>
          <p:cNvSpPr/>
          <p:nvPr/>
        </p:nvSpPr>
        <p:spPr>
          <a:xfrm>
            <a:off x="380990" y="1946374"/>
            <a:ext cx="6146646" cy="1618159"/>
          </a:xfrm>
          <a:prstGeom prst="rect">
            <a:avLst/>
          </a:prstGeom>
          <a:noFill/>
          <a:ln w="25399">
            <a:solidFill>
              <a:srgbClr val="D8D4D4"/>
            </a:solidFill>
            <a:prstDash val="solid"/>
          </a:ln>
        </p:spPr>
      </p:sp>
      <p:sp>
        <p:nvSpPr>
          <p:cNvPr id="5" name="Text 3"/>
          <p:cNvSpPr/>
          <p:nvPr/>
        </p:nvSpPr>
        <p:spPr>
          <a:xfrm>
            <a:off x="634984" y="2166719"/>
            <a:ext cx="5638659" cy="426641"/>
          </a:xfrm>
          <a:prstGeom prst="rect">
            <a:avLst/>
          </a:prstGeom>
          <a:noFill/>
          <a:ln/>
        </p:spPr>
        <p:txBody>
          <a:bodyPr wrap="none" lIns="0" tIns="0" rIns="0" bIns="0" rtlCol="0" anchor="t"/>
          <a:lstStyle/>
          <a:p>
            <a:pPr algn="l" indent="0" marL="0">
              <a:lnSpc>
                <a:spcPct val="93000"/>
              </a:lnSpc>
              <a:buNone/>
            </a:pPr>
            <a:r>
              <a:rPr lang="en-US" sz="3000" b="1" dirty="0">
                <a:solidFill>
                  <a:srgbClr val="16263D"/>
                </a:solidFill>
                <a:latin typeface="Atkinson Hyperlegible Bold" pitchFamily="34" charset="0"/>
                <a:ea typeface="Atkinson Hyperlegible Bold" pitchFamily="34" charset="-122"/>
                <a:cs typeface="Atkinson Hyperlegible Bold" pitchFamily="34" charset="-120"/>
              </a:rPr>
              <a:t>Free or paid</a:t>
            </a:r>
            <a:endParaRPr lang="en-US" sz="3000" dirty="0"/>
          </a:p>
        </p:txBody>
      </p:sp>
      <p:sp>
        <p:nvSpPr>
          <p:cNvPr id="6" name="Text 4"/>
          <p:cNvSpPr/>
          <p:nvPr/>
        </p:nvSpPr>
        <p:spPr>
          <a:xfrm>
            <a:off x="634984" y="2729377"/>
            <a:ext cx="5638659"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6263D"/>
                </a:solidFill>
                <a:latin typeface="Atkinson Hyperlegible" pitchFamily="34" charset="0"/>
                <a:ea typeface="Atkinson Hyperlegible" pitchFamily="34" charset="-122"/>
                <a:cs typeface="Atkinson Hyperlegible" pitchFamily="34" charset="-120"/>
              </a:rPr>
              <a:t>Free and paid registration flows are simulated in the product.</a:t>
            </a:r>
            <a:endParaRPr lang="en-US" sz="1800" dirty="0"/>
          </a:p>
        </p:txBody>
      </p:sp>
      <p:sp>
        <p:nvSpPr>
          <p:cNvPr id="7" name="Shape 5"/>
          <p:cNvSpPr/>
          <p:nvPr/>
        </p:nvSpPr>
        <p:spPr>
          <a:xfrm>
            <a:off x="380990" y="3716933"/>
            <a:ext cx="6146646" cy="1316534"/>
          </a:xfrm>
          <a:prstGeom prst="rect">
            <a:avLst/>
          </a:prstGeom>
          <a:noFill/>
          <a:ln w="25399">
            <a:solidFill>
              <a:srgbClr val="D8D4D4"/>
            </a:solidFill>
            <a:prstDash val="solid"/>
          </a:ln>
        </p:spPr>
      </p:sp>
      <p:sp>
        <p:nvSpPr>
          <p:cNvPr id="8" name="Text 6"/>
          <p:cNvSpPr/>
          <p:nvPr/>
        </p:nvSpPr>
        <p:spPr>
          <a:xfrm>
            <a:off x="634984" y="3937278"/>
            <a:ext cx="5638659" cy="426641"/>
          </a:xfrm>
          <a:prstGeom prst="rect">
            <a:avLst/>
          </a:prstGeom>
          <a:noFill/>
          <a:ln/>
        </p:spPr>
        <p:txBody>
          <a:bodyPr wrap="none" lIns="0" tIns="0" rIns="0" bIns="0" rtlCol="0" anchor="t"/>
          <a:lstStyle/>
          <a:p>
            <a:pPr algn="l" indent="0" marL="0">
              <a:lnSpc>
                <a:spcPct val="93000"/>
              </a:lnSpc>
              <a:buNone/>
            </a:pPr>
            <a:r>
              <a:rPr lang="en-US" sz="3000" b="1" dirty="0">
                <a:solidFill>
                  <a:srgbClr val="16263D"/>
                </a:solidFill>
                <a:latin typeface="Atkinson Hyperlegible Bold" pitchFamily="34" charset="0"/>
                <a:ea typeface="Atkinson Hyperlegible Bold" pitchFamily="34" charset="-122"/>
                <a:cs typeface="Atkinson Hyperlegible Bold" pitchFamily="34" charset="-120"/>
              </a:rPr>
              <a:t>Dynamic QR ticket</a:t>
            </a:r>
            <a:endParaRPr lang="en-US" sz="3000" dirty="0"/>
          </a:p>
        </p:txBody>
      </p:sp>
      <p:sp>
        <p:nvSpPr>
          <p:cNvPr id="9" name="Text 7"/>
          <p:cNvSpPr/>
          <p:nvPr/>
        </p:nvSpPr>
        <p:spPr>
          <a:xfrm>
            <a:off x="634984" y="4499935"/>
            <a:ext cx="5892653" cy="301724"/>
          </a:xfrm>
          <a:prstGeom prst="rect">
            <a:avLst/>
          </a:prstGeom>
          <a:noFill/>
          <a:ln/>
        </p:spPr>
        <p:txBody>
          <a:bodyPr wrap="none" lIns="0" tIns="0" rIns="0" bIns="0" rtlCol="0" anchor="t"/>
          <a:lstStyle/>
          <a:p>
            <a:pPr algn="l" indent="0" marL="0">
              <a:lnSpc>
                <a:spcPct val="110000"/>
              </a:lnSpc>
              <a:buNone/>
            </a:pPr>
            <a:r>
              <a:rPr lang="en-US" sz="1800" dirty="0">
                <a:solidFill>
                  <a:srgbClr val="16263D"/>
                </a:solidFill>
                <a:latin typeface="Atkinson Hyperlegible" pitchFamily="34" charset="0"/>
                <a:ea typeface="Atkinson Hyperlegible" pitchFamily="34" charset="-122"/>
                <a:cs typeface="Atkinson Hyperlegible" pitchFamily="34" charset="-120"/>
              </a:rPr>
              <a:t>Each registration creates a dynamic QR code ticket.</a:t>
            </a:r>
            <a:endParaRPr lang="en-US" sz="1800" dirty="0"/>
          </a:p>
        </p:txBody>
      </p:sp>
      <p:sp>
        <p:nvSpPr>
          <p:cNvPr id="10" name="Shape 8"/>
          <p:cNvSpPr/>
          <p:nvPr/>
        </p:nvSpPr>
        <p:spPr>
          <a:xfrm>
            <a:off x="380990" y="5185866"/>
            <a:ext cx="6146646" cy="1316534"/>
          </a:xfrm>
          <a:prstGeom prst="rect">
            <a:avLst/>
          </a:prstGeom>
          <a:noFill/>
          <a:ln w="25399">
            <a:solidFill>
              <a:srgbClr val="D8D4D4"/>
            </a:solidFill>
            <a:prstDash val="solid"/>
          </a:ln>
        </p:spPr>
      </p:sp>
      <p:sp>
        <p:nvSpPr>
          <p:cNvPr id="11" name="Text 9"/>
          <p:cNvSpPr/>
          <p:nvPr/>
        </p:nvSpPr>
        <p:spPr>
          <a:xfrm>
            <a:off x="634984" y="5406211"/>
            <a:ext cx="5638659" cy="426641"/>
          </a:xfrm>
          <a:prstGeom prst="rect">
            <a:avLst/>
          </a:prstGeom>
          <a:noFill/>
          <a:ln/>
        </p:spPr>
        <p:txBody>
          <a:bodyPr wrap="none" lIns="0" tIns="0" rIns="0" bIns="0" rtlCol="0" anchor="t"/>
          <a:lstStyle/>
          <a:p>
            <a:pPr algn="l" indent="0" marL="0">
              <a:lnSpc>
                <a:spcPct val="93000"/>
              </a:lnSpc>
              <a:buNone/>
            </a:pPr>
            <a:r>
              <a:rPr lang="en-US" sz="3000" b="1" dirty="0">
                <a:solidFill>
                  <a:srgbClr val="16263D"/>
                </a:solidFill>
                <a:latin typeface="Atkinson Hyperlegible Bold" pitchFamily="34" charset="0"/>
                <a:ea typeface="Atkinson Hyperlegible Bold" pitchFamily="34" charset="-122"/>
                <a:cs typeface="Atkinson Hyperlegible Bold" pitchFamily="34" charset="-120"/>
              </a:rPr>
              <a:t>Calendar-ready</a:t>
            </a:r>
            <a:endParaRPr lang="en-US" sz="3000" dirty="0"/>
          </a:p>
        </p:txBody>
      </p:sp>
      <p:sp>
        <p:nvSpPr>
          <p:cNvPr id="12" name="Text 10"/>
          <p:cNvSpPr/>
          <p:nvPr/>
        </p:nvSpPr>
        <p:spPr>
          <a:xfrm>
            <a:off x="634984" y="5968869"/>
            <a:ext cx="5892653" cy="301724"/>
          </a:xfrm>
          <a:prstGeom prst="rect">
            <a:avLst/>
          </a:prstGeom>
          <a:noFill/>
          <a:ln/>
        </p:spPr>
        <p:txBody>
          <a:bodyPr wrap="none" lIns="0" tIns="0" rIns="0" bIns="0" rtlCol="0" anchor="t"/>
          <a:lstStyle/>
          <a:p>
            <a:pPr algn="l" indent="0" marL="0">
              <a:lnSpc>
                <a:spcPct val="110000"/>
              </a:lnSpc>
              <a:buNone/>
            </a:pPr>
            <a:r>
              <a:rPr lang="en-US" sz="1800" dirty="0">
                <a:solidFill>
                  <a:srgbClr val="16263D"/>
                </a:solidFill>
                <a:latin typeface="Atkinson Hyperlegible" pitchFamily="34" charset="0"/>
                <a:ea typeface="Atkinson Hyperlegible" pitchFamily="34" charset="-122"/>
                <a:cs typeface="Atkinson Hyperlegible" pitchFamily="34" charset="-120"/>
              </a:rPr>
              <a:t>Students can add the event to Google Calendar.</a:t>
            </a:r>
            <a:endParaRPr lang="en-US" sz="1800" dirty="0"/>
          </a:p>
        </p:txBody>
      </p:sp>
      <p:sp>
        <p:nvSpPr>
          <p:cNvPr id="13" name="Shape 11"/>
          <p:cNvSpPr/>
          <p:nvPr/>
        </p:nvSpPr>
        <p:spPr>
          <a:xfrm>
            <a:off x="6908627" y="0"/>
            <a:ext cx="5283068" cy="6858000"/>
          </a:xfrm>
          <a:prstGeom prst="rect">
            <a:avLst/>
          </a:prstGeom>
          <a:solidFill>
            <a:srgbClr val="0E2A4F"/>
          </a:solidFill>
          <a:ln/>
        </p:spPr>
      </p:sp>
      <p:pic>
        <p:nvPicPr>
          <p:cNvPr id="14" name="Image 0" descr="preencoded.png">    </p:cNvPr>
          <p:cNvPicPr>
            <a:picLocks noChangeAspect="1"/>
          </p:cNvPicPr>
          <p:nvPr/>
        </p:nvPicPr>
        <p:blipFill>
          <a:blip r:embed="rId1"/>
          <a:stretch>
            <a:fillRect/>
          </a:stretch>
        </p:blipFill>
        <p:spPr>
          <a:xfrm>
            <a:off x="6908627" y="0"/>
            <a:ext cx="5283068" cy="6858000"/>
          </a:xfrm>
          <a:prstGeom prst="rect">
            <a:avLst/>
          </a:prstGeom>
        </p:spPr>
      </p:pic>
      <p:sp>
        <p:nvSpPr>
          <p:cNvPr id="15" name="Shape 12"/>
          <p:cNvSpPr/>
          <p:nvPr/>
        </p:nvSpPr>
        <p:spPr>
          <a:xfrm>
            <a:off x="6883228" y="0"/>
            <a:ext cx="50799" cy="6858000"/>
          </a:xfrm>
          <a:prstGeom prst="rect">
            <a:avLst/>
          </a:prstGeom>
          <a:solidFill>
            <a:srgbClr val="1F6BFF"/>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80990" y="335525"/>
            <a:ext cx="11810705" cy="197148"/>
          </a:xfrm>
          <a:prstGeom prst="rect">
            <a:avLst/>
          </a:prstGeom>
          <a:noFill/>
          <a:ln/>
        </p:spPr>
        <p:txBody>
          <a:bodyPr wrap="none" lIns="0" tIns="0" rIns="0" bIns="0" rtlCol="0" anchor="t"/>
          <a:lstStyle/>
          <a:p>
            <a:pPr algn="l" indent="0" marL="0">
              <a:lnSpc>
                <a:spcPct val="96000"/>
              </a:lnSpc>
              <a:buNone/>
            </a:pPr>
            <a:r>
              <a:rPr lang="en-US" sz="1350" b="1" spc="94" kern="100" dirty="0">
                <a:solidFill>
                  <a:srgbClr val="1F6BFF"/>
                </a:solidFill>
                <a:latin typeface="Atkinson Hyperlegible Bold" pitchFamily="34" charset="0"/>
                <a:ea typeface="Atkinson Hyperlegible Bold" pitchFamily="34" charset="-122"/>
                <a:cs typeface="Atkinson Hyperlegible Bold" pitchFamily="34" charset="-120"/>
              </a:rPr>
              <a:t>ORGANIZER JOURNEY · LIVE OPERATIONS</a:t>
            </a:r>
            <a:endParaRPr lang="en-US" sz="1350" dirty="0"/>
          </a:p>
        </p:txBody>
      </p:sp>
      <p:sp>
        <p:nvSpPr>
          <p:cNvPr id="3" name="Text 1"/>
          <p:cNvSpPr/>
          <p:nvPr/>
        </p:nvSpPr>
        <p:spPr>
          <a:xfrm>
            <a:off x="380990" y="651605"/>
            <a:ext cx="11429714" cy="547588"/>
          </a:xfrm>
          <a:prstGeom prst="rect">
            <a:avLst/>
          </a:prstGeom>
          <a:noFill/>
          <a:ln/>
        </p:spPr>
        <p:txBody>
          <a:bodyPr wrap="none" lIns="0" tIns="0" rIns="0" bIns="0" rtlCol="0" anchor="t"/>
          <a:lstStyle/>
          <a:p>
            <a:pPr algn="l" indent="0" marL="0">
              <a:lnSpc>
                <a:spcPct val="82000"/>
              </a:lnSpc>
              <a:buNone/>
            </a:pPr>
            <a:r>
              <a:rPr lang="en-US" sz="4400" spc="44" kern="100" dirty="0">
                <a:solidFill>
                  <a:srgbClr val="0A1A33"/>
                </a:solidFill>
                <a:latin typeface="Bangers" pitchFamily="34" charset="0"/>
                <a:ea typeface="Bangers" pitchFamily="34" charset="-122"/>
                <a:cs typeface="Bangers" pitchFamily="34" charset="-120"/>
              </a:rPr>
              <a:t>ORGANIZERS CAN SEE THE EVENT AS IT HAPPENS</a:t>
            </a:r>
            <a:endParaRPr lang="en-US" sz="4400" dirty="0"/>
          </a:p>
        </p:txBody>
      </p:sp>
      <p:sp>
        <p:nvSpPr>
          <p:cNvPr id="4" name="Shape 2"/>
          <p:cNvSpPr/>
          <p:nvPr/>
        </p:nvSpPr>
        <p:spPr>
          <a:xfrm>
            <a:off x="380990" y="1373386"/>
            <a:ext cx="6476838" cy="5103614"/>
          </a:xfrm>
          <a:prstGeom prst="rect">
            <a:avLst/>
          </a:prstGeom>
          <a:solidFill>
            <a:srgbClr val="FFFFFF"/>
          </a:solidFill>
          <a:ln/>
        </p:spPr>
      </p:sp>
      <p:sp>
        <p:nvSpPr>
          <p:cNvPr id="5" name="Text 3"/>
          <p:cNvSpPr/>
          <p:nvPr/>
        </p:nvSpPr>
        <p:spPr>
          <a:xfrm>
            <a:off x="660383" y="1632711"/>
            <a:ext cx="6197445" cy="197148"/>
          </a:xfrm>
          <a:prstGeom prst="rect">
            <a:avLst/>
          </a:prstGeom>
          <a:noFill/>
          <a:ln/>
        </p:spPr>
        <p:txBody>
          <a:bodyPr wrap="none" lIns="0" tIns="0" rIns="0" bIns="0" rtlCol="0" anchor="t"/>
          <a:lstStyle/>
          <a:p>
            <a:pPr algn="l" indent="0" marL="0">
              <a:lnSpc>
                <a:spcPct val="96000"/>
              </a:lnSpc>
              <a:buNone/>
            </a:pPr>
            <a:r>
              <a:rPr lang="en-US" sz="1350" b="1" spc="94" kern="100" dirty="0">
                <a:solidFill>
                  <a:srgbClr val="16263D"/>
                </a:solidFill>
                <a:latin typeface="Atkinson Hyperlegible Bold" pitchFamily="34" charset="0"/>
                <a:ea typeface="Atkinson Hyperlegible Bold" pitchFamily="34" charset="-122"/>
                <a:cs typeface="Atkinson Hyperlegible Bold" pitchFamily="34" charset="-120"/>
              </a:rPr>
              <a:t>LIVE DASHBOARD</a:t>
            </a:r>
            <a:endParaRPr lang="en-US" sz="1350" dirty="0"/>
          </a:p>
        </p:txBody>
      </p:sp>
      <p:sp>
        <p:nvSpPr>
          <p:cNvPr id="6" name="Text 4"/>
          <p:cNvSpPr/>
          <p:nvPr/>
        </p:nvSpPr>
        <p:spPr>
          <a:xfrm>
            <a:off x="660383" y="1981808"/>
            <a:ext cx="5918052" cy="1401961"/>
          </a:xfrm>
          <a:prstGeom prst="rect">
            <a:avLst/>
          </a:prstGeom>
          <a:noFill/>
          <a:ln/>
        </p:spPr>
        <p:txBody>
          <a:bodyPr wrap="square" lIns="0" tIns="0" rIns="0" bIns="0" rtlCol="0" anchor="t">
            <a:normAutofit/>
          </a:bodyPr>
          <a:lstStyle/>
          <a:p>
            <a:pPr algn="l" indent="0" marL="0">
              <a:lnSpc>
                <a:spcPct val="77000"/>
              </a:lnSpc>
              <a:buNone/>
            </a:pPr>
            <a:r>
              <a:rPr lang="en-US" sz="6000" spc="30" kern="100" dirty="0">
                <a:solidFill>
                  <a:srgbClr val="16263D"/>
                </a:solidFill>
                <a:latin typeface="Bangers" pitchFamily="34" charset="0"/>
                <a:ea typeface="Bangers" pitchFamily="34" charset="-122"/>
                <a:cs typeface="Bangers" pitchFamily="34" charset="-120"/>
              </a:rPr>
              <a:t>CHECK-INS</a:t>
            </a:r>
            <a:endParaRPr lang="en-US" sz="6000" dirty="0"/>
          </a:p>
          <a:p>
            <a:pPr algn="l" indent="0" marL="0">
              <a:lnSpc>
                <a:spcPct val="77000"/>
              </a:lnSpc>
              <a:buNone/>
            </a:pPr>
            <a:r>
              <a:rPr lang="en-US" sz="6000" spc="30" kern="100" dirty="0">
                <a:solidFill>
                  <a:srgbClr val="16263D"/>
                </a:solidFill>
                <a:latin typeface="Bangers" pitchFamily="34" charset="0"/>
                <a:ea typeface="Bangers" pitchFamily="34" charset="-122"/>
                <a:cs typeface="Bangers" pitchFamily="34" charset="-120"/>
              </a:rPr>
              <a:t>IN VIEW</a:t>
            </a:r>
            <a:endParaRPr lang="en-US" sz="6000" dirty="0"/>
          </a:p>
        </p:txBody>
      </p:sp>
      <p:sp>
        <p:nvSpPr>
          <p:cNvPr id="7" name="Text 5"/>
          <p:cNvSpPr/>
          <p:nvPr/>
        </p:nvSpPr>
        <p:spPr>
          <a:xfrm>
            <a:off x="660383" y="3525707"/>
            <a:ext cx="6197445" cy="301724"/>
          </a:xfrm>
          <a:prstGeom prst="rect">
            <a:avLst/>
          </a:prstGeom>
          <a:noFill/>
          <a:ln/>
        </p:spPr>
        <p:txBody>
          <a:bodyPr wrap="none" lIns="0" tIns="0" rIns="0" bIns="0" rtlCol="0" anchor="t"/>
          <a:lstStyle/>
          <a:p>
            <a:pPr algn="l" indent="0" marL="0">
              <a:lnSpc>
                <a:spcPct val="110000"/>
              </a:lnSpc>
              <a:buNone/>
            </a:pPr>
            <a:r>
              <a:rPr lang="en-US" sz="1800" dirty="0">
                <a:solidFill>
                  <a:srgbClr val="16263D"/>
                </a:solidFill>
                <a:latin typeface="Atkinson Hyperlegible" pitchFamily="34" charset="0"/>
                <a:ea typeface="Atkinson Hyperlegible" pitchFamily="34" charset="-122"/>
                <a:cs typeface="Atkinson Hyperlegible" pitchFamily="34" charset="-120"/>
              </a:rPr>
              <a:t>QR check-ins replace manual attendance tracking.</a:t>
            </a:r>
            <a:endParaRPr lang="en-US" sz="1800" dirty="0"/>
          </a:p>
        </p:txBody>
      </p:sp>
      <p:sp>
        <p:nvSpPr>
          <p:cNvPr id="8" name="Shape 6"/>
          <p:cNvSpPr/>
          <p:nvPr/>
        </p:nvSpPr>
        <p:spPr>
          <a:xfrm>
            <a:off x="6857828" y="1373386"/>
            <a:ext cx="4952876" cy="5103614"/>
          </a:xfrm>
          <a:custGeom>
            <a:avLst/>
            <a:gdLst/>
            <a:ahLst/>
            <a:cxnLst/>
            <a:rect l="l" t="t" r="r" b="b"/>
            <a:pathLst>
              <a:path w="4952876" h="5103614">
                <a:moveTo>
                  <a:pt x="0" y="0"/>
                </a:moveTo>
                <a:lnTo>
                  <a:pt x="4943351" y="0"/>
                </a:lnTo>
                <a:arcTo hR="9525" wR="9525" stAng="16200000" swAng="5400000"/>
                <a:lnTo>
                  <a:pt x="4952876" y="5094089"/>
                </a:lnTo>
                <a:arcTo hR="9525" wR="9525" stAng="0" swAng="5400000"/>
                <a:lnTo>
                  <a:pt x="0" y="5103614"/>
                </a:lnTo>
                <a:lnTo>
                  <a:pt x="0" y="0"/>
                </a:lnTo>
                <a:close/>
              </a:path>
            </a:pathLst>
          </a:custGeom>
          <a:solidFill>
            <a:srgbClr val="0E2A4F"/>
          </a:solidFill>
          <a:ln/>
        </p:spPr>
      </p:sp>
      <p:pic>
        <p:nvPicPr>
          <p:cNvPr id="9" name="Image 0" descr="preencoded.png">    </p:cNvPr>
          <p:cNvPicPr>
            <a:picLocks noChangeAspect="1"/>
          </p:cNvPicPr>
          <p:nvPr/>
        </p:nvPicPr>
        <p:blipFill>
          <a:blip r:embed="rId1"/>
          <a:stretch>
            <a:fillRect/>
          </a:stretch>
        </p:blipFill>
        <p:spPr>
          <a:xfrm>
            <a:off x="7137221" y="1627386"/>
            <a:ext cx="457189" cy="457200"/>
          </a:xfrm>
          <a:prstGeom prst="rect">
            <a:avLst/>
          </a:prstGeom>
        </p:spPr>
      </p:pic>
      <p:sp>
        <p:nvSpPr>
          <p:cNvPr id="10" name="Text 7"/>
          <p:cNvSpPr/>
          <p:nvPr/>
        </p:nvSpPr>
        <p:spPr>
          <a:xfrm>
            <a:off x="7137221" y="2225556"/>
            <a:ext cx="4394090" cy="426641"/>
          </a:xfrm>
          <a:prstGeom prst="rect">
            <a:avLst/>
          </a:prstGeom>
          <a:noFill/>
          <a:ln/>
        </p:spPr>
        <p:txBody>
          <a:bodyPr wrap="none" lIns="0" tIns="0" rIns="0" bIns="0" rtlCol="0" anchor="t"/>
          <a:lstStyle/>
          <a:p>
            <a:pPr algn="l" indent="0" marL="0">
              <a:lnSpc>
                <a:spcPct val="93000"/>
              </a:lnSpc>
              <a:buNone/>
            </a:pPr>
            <a:r>
              <a:rPr lang="en-US" sz="3000" b="1" dirty="0">
                <a:solidFill>
                  <a:srgbClr val="FFFFFF"/>
                </a:solidFill>
                <a:latin typeface="Atkinson Hyperlegible Bold" pitchFamily="34" charset="0"/>
                <a:ea typeface="Atkinson Hyperlegible Bold" pitchFamily="34" charset="-122"/>
                <a:cs typeface="Atkinson Hyperlegible Bold" pitchFamily="34" charset="-120"/>
              </a:rPr>
              <a:t>Three signals</a:t>
            </a:r>
            <a:endParaRPr lang="en-US" sz="3000" dirty="0"/>
          </a:p>
        </p:txBody>
      </p:sp>
      <p:sp>
        <p:nvSpPr>
          <p:cNvPr id="11" name="Text 8"/>
          <p:cNvSpPr/>
          <p:nvPr/>
        </p:nvSpPr>
        <p:spPr>
          <a:xfrm>
            <a:off x="7137221" y="2889814"/>
            <a:ext cx="4394090" cy="905173"/>
          </a:xfrm>
          <a:prstGeom prst="rect">
            <a:avLst/>
          </a:prstGeom>
          <a:noFill/>
          <a:ln/>
        </p:spPr>
        <p:txBody>
          <a:bodyPr wrap="square" lIns="0" tIns="0" rIns="0" bIns="0" rtlCol="0" anchor="t">
            <a:normAutofit/>
          </a:bodyPr>
          <a:lstStyle/>
          <a:p>
            <a:pPr algn="l" indent="0" marL="0">
              <a:lnSpc>
                <a:spcPct val="110000"/>
              </a:lnSpc>
              <a:buNone/>
            </a:pPr>
            <a:r>
              <a:rPr lang="en-US" sz="1800" b="1" dirty="0">
                <a:solidFill>
                  <a:srgbClr val="FFFFFF"/>
                </a:solidFill>
                <a:latin typeface="Atkinson Hyperlegible Bold" pitchFamily="34" charset="0"/>
                <a:ea typeface="Atkinson Hyperlegible Bold" pitchFamily="34" charset="-122"/>
                <a:cs typeface="Atkinson Hyperlegible Bold" pitchFamily="34" charset="-120"/>
              </a:rPr>
              <a:t>Capacity</a:t>
            </a:r>
            <a:endParaRPr lang="en-US" sz="1800" dirty="0"/>
          </a:p>
          <a:p>
            <a:pPr algn="l" indent="0" marL="0">
              <a:lnSpc>
                <a:spcPct val="110000"/>
              </a:lnSpc>
              <a:buNone/>
            </a:pPr>
            <a:r>
              <a:rPr lang="en-US" sz="1800" dirty="0">
                <a:solidFill>
                  <a:srgbClr val="FFFFFF"/>
                </a:solidFill>
                <a:latin typeface="Atkinson Hyperlegible" pitchFamily="34" charset="0"/>
                <a:ea typeface="Atkinson Hyperlegible" pitchFamily="34" charset="-122"/>
                <a:cs typeface="Atkinson Hyperlegible" pitchFamily="34" charset="-120"/>
              </a:rPr>
              <a:t>Live dashboard shows capacity and check-in status.</a:t>
            </a:r>
            <a:endParaRPr lang="en-US" sz="1800" dirty="0"/>
          </a:p>
        </p:txBody>
      </p:sp>
      <p:sp>
        <p:nvSpPr>
          <p:cNvPr id="12" name="Text 9"/>
          <p:cNvSpPr/>
          <p:nvPr/>
        </p:nvSpPr>
        <p:spPr>
          <a:xfrm>
            <a:off x="7137221" y="3998186"/>
            <a:ext cx="4394090" cy="905173"/>
          </a:xfrm>
          <a:prstGeom prst="rect">
            <a:avLst/>
          </a:prstGeom>
          <a:noFill/>
          <a:ln/>
        </p:spPr>
        <p:txBody>
          <a:bodyPr wrap="square" lIns="0" tIns="0" rIns="0" bIns="0" rtlCol="0" anchor="t">
            <a:normAutofit/>
          </a:bodyPr>
          <a:lstStyle/>
          <a:p>
            <a:pPr algn="l" indent="0" marL="0">
              <a:lnSpc>
                <a:spcPct val="110000"/>
              </a:lnSpc>
              <a:buNone/>
            </a:pPr>
            <a:r>
              <a:rPr lang="en-US" sz="1800" b="1" dirty="0">
                <a:solidFill>
                  <a:srgbClr val="FFFFFF"/>
                </a:solidFill>
                <a:latin typeface="Atkinson Hyperlegible Bold" pitchFamily="34" charset="0"/>
                <a:ea typeface="Atkinson Hyperlegible Bold" pitchFamily="34" charset="-122"/>
                <a:cs typeface="Atkinson Hyperlegible Bold" pitchFamily="34" charset="-120"/>
              </a:rPr>
              <a:t>Check-ins</a:t>
            </a:r>
            <a:endParaRPr lang="en-US" sz="1800" dirty="0"/>
          </a:p>
          <a:p>
            <a:pPr algn="l" indent="0" marL="0">
              <a:lnSpc>
                <a:spcPct val="110000"/>
              </a:lnSpc>
              <a:buNone/>
            </a:pPr>
            <a:r>
              <a:rPr lang="en-US" sz="1800" dirty="0">
                <a:solidFill>
                  <a:srgbClr val="FFFFFF"/>
                </a:solidFill>
                <a:latin typeface="Atkinson Hyperlegible" pitchFamily="34" charset="0"/>
                <a:ea typeface="Atkinson Hyperlegible" pitchFamily="34" charset="-122"/>
                <a:cs typeface="Atkinson Hyperlegible" pitchFamily="34" charset="-120"/>
              </a:rPr>
              <a:t>QR check-ins replace manual attendance tracking.</a:t>
            </a:r>
            <a:endParaRPr lang="en-US" sz="1800" dirty="0"/>
          </a:p>
        </p:txBody>
      </p:sp>
      <p:sp>
        <p:nvSpPr>
          <p:cNvPr id="13" name="Text 10"/>
          <p:cNvSpPr/>
          <p:nvPr/>
        </p:nvSpPr>
        <p:spPr>
          <a:xfrm>
            <a:off x="7137221" y="5106559"/>
            <a:ext cx="4394090" cy="905173"/>
          </a:xfrm>
          <a:prstGeom prst="rect">
            <a:avLst/>
          </a:prstGeom>
          <a:noFill/>
          <a:ln/>
        </p:spPr>
        <p:txBody>
          <a:bodyPr wrap="square" lIns="0" tIns="0" rIns="0" bIns="0" rtlCol="0" anchor="t">
            <a:normAutofit/>
          </a:bodyPr>
          <a:lstStyle/>
          <a:p>
            <a:pPr algn="l" indent="0" marL="0">
              <a:lnSpc>
                <a:spcPct val="110000"/>
              </a:lnSpc>
              <a:buNone/>
            </a:pPr>
            <a:r>
              <a:rPr lang="en-US" sz="1800" b="1" dirty="0">
                <a:solidFill>
                  <a:srgbClr val="FFFFFF"/>
                </a:solidFill>
                <a:latin typeface="Atkinson Hyperlegible Bold" pitchFamily="34" charset="0"/>
                <a:ea typeface="Atkinson Hyperlegible Bold" pitchFamily="34" charset="-122"/>
                <a:cs typeface="Atkinson Hyperlegible Bold" pitchFamily="34" charset="-120"/>
              </a:rPr>
              <a:t>Analytics</a:t>
            </a:r>
            <a:endParaRPr lang="en-US" sz="1800" dirty="0"/>
          </a:p>
          <a:p>
            <a:pPr algn="l" indent="0" marL="0">
              <a:lnSpc>
                <a:spcPct val="110000"/>
              </a:lnSpc>
              <a:buNone/>
            </a:pPr>
            <a:r>
              <a:rPr lang="en-US" sz="1800" dirty="0">
                <a:solidFill>
                  <a:srgbClr val="FFFFFF"/>
                </a:solidFill>
                <a:latin typeface="Atkinson Hyperlegible" pitchFamily="34" charset="0"/>
                <a:ea typeface="Atkinson Hyperlegible" pitchFamily="34" charset="-122"/>
                <a:cs typeface="Atkinson Hyperlegible" pitchFamily="34" charset="-120"/>
              </a:rPr>
              <a:t>Real-time analytics turn event management into a clear picture.</a:t>
            </a:r>
            <a:endParaRPr lang="en-US" sz="1800" dirty="0"/>
          </a:p>
        </p:txBody>
      </p:sp>
      <p:sp>
        <p:nvSpPr>
          <p:cNvPr id="14" name="Shape 11"/>
          <p:cNvSpPr/>
          <p:nvPr/>
        </p:nvSpPr>
        <p:spPr>
          <a:xfrm>
            <a:off x="6826079" y="1373386"/>
            <a:ext cx="63498" cy="5103614"/>
          </a:xfrm>
          <a:prstGeom prst="rect">
            <a:avLst/>
          </a:prstGeom>
          <a:solidFill>
            <a:srgbClr val="1F6BFF"/>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4063898" cy="6858000"/>
          </a:xfrm>
          <a:prstGeom prst="rect">
            <a:avLst/>
          </a:prstGeom>
          <a:solidFill>
            <a:srgbClr val="FF6F61"/>
          </a:solidFill>
          <a:ln/>
        </p:spPr>
      </p:sp>
      <p:sp>
        <p:nvSpPr>
          <p:cNvPr id="3" name="Text 1"/>
          <p:cNvSpPr/>
          <p:nvPr/>
        </p:nvSpPr>
        <p:spPr>
          <a:xfrm>
            <a:off x="304792" y="360925"/>
            <a:ext cx="3759106" cy="197148"/>
          </a:xfrm>
          <a:prstGeom prst="rect">
            <a:avLst/>
          </a:prstGeom>
          <a:noFill/>
          <a:ln/>
        </p:spPr>
        <p:txBody>
          <a:bodyPr wrap="none" lIns="0" tIns="0" rIns="0" bIns="0" rtlCol="0" anchor="t"/>
          <a:lstStyle/>
          <a:p>
            <a:pPr algn="l" indent="0" marL="0">
              <a:lnSpc>
                <a:spcPct val="96000"/>
              </a:lnSpc>
              <a:buNone/>
            </a:pPr>
            <a:r>
              <a:rPr lang="en-US" sz="1350" b="1" spc="94" kern="100" dirty="0">
                <a:solidFill>
                  <a:srgbClr val="FFFFFF"/>
                </a:solidFill>
                <a:latin typeface="Atkinson Hyperlegible Bold" pitchFamily="34" charset="0"/>
                <a:ea typeface="Atkinson Hyperlegible Bold" pitchFamily="34" charset="-122"/>
                <a:cs typeface="Atkinson Hyperlegible Bold" pitchFamily="34" charset="-120"/>
              </a:rPr>
              <a:t>BUILDING CAMPUSPULSE</a:t>
            </a:r>
            <a:endParaRPr lang="en-US" sz="1350" dirty="0"/>
          </a:p>
        </p:txBody>
      </p:sp>
      <p:sp>
        <p:nvSpPr>
          <p:cNvPr id="4" name="Text 2"/>
          <p:cNvSpPr/>
          <p:nvPr/>
        </p:nvSpPr>
        <p:spPr>
          <a:xfrm>
            <a:off x="304792" y="2396840"/>
            <a:ext cx="3454314" cy="2102941"/>
          </a:xfrm>
          <a:prstGeom prst="rect">
            <a:avLst/>
          </a:prstGeom>
          <a:noFill/>
          <a:ln/>
        </p:spPr>
        <p:txBody>
          <a:bodyPr wrap="square" lIns="0" tIns="0" rIns="0" bIns="0" rtlCol="0" anchor="t">
            <a:normAutofit/>
          </a:bodyPr>
          <a:lstStyle/>
          <a:p>
            <a:pPr algn="l" indent="0" marL="0">
              <a:lnSpc>
                <a:spcPct val="77000"/>
              </a:lnSpc>
              <a:buNone/>
            </a:pPr>
            <a:r>
              <a:rPr lang="en-US" sz="6000" spc="30" kern="100" dirty="0">
                <a:solidFill>
                  <a:srgbClr val="0A1A33"/>
                </a:solidFill>
                <a:latin typeface="Bangers" pitchFamily="34" charset="0"/>
                <a:ea typeface="Bangers" pitchFamily="34" charset="-122"/>
                <a:cs typeface="Bangers" pitchFamily="34" charset="-120"/>
              </a:rPr>
              <a:t>SIMPLE.</a:t>
            </a:r>
            <a:endParaRPr lang="en-US" sz="6000" dirty="0"/>
          </a:p>
          <a:p>
            <a:pPr algn="l" indent="0" marL="0">
              <a:lnSpc>
                <a:spcPct val="77000"/>
              </a:lnSpc>
              <a:buNone/>
            </a:pPr>
            <a:r>
              <a:rPr lang="en-US" sz="6000" spc="30" kern="100" dirty="0">
                <a:solidFill>
                  <a:srgbClr val="0A1A33"/>
                </a:solidFill>
                <a:latin typeface="Bangers" pitchFamily="34" charset="0"/>
                <a:ea typeface="Bangers" pitchFamily="34" charset="-122"/>
                <a:cs typeface="Bangers" pitchFamily="34" charset="-120"/>
              </a:rPr>
              <a:t>FAST.</a:t>
            </a:r>
            <a:endParaRPr lang="en-US" sz="6000" dirty="0"/>
          </a:p>
          <a:p>
            <a:pPr algn="l" indent="0" marL="0">
              <a:lnSpc>
                <a:spcPct val="77000"/>
              </a:lnSpc>
              <a:buNone/>
            </a:pPr>
            <a:r>
              <a:rPr lang="en-US" sz="6000" spc="30" kern="100" dirty="0">
                <a:solidFill>
                  <a:srgbClr val="0A1A33"/>
                </a:solidFill>
                <a:latin typeface="Bangers" pitchFamily="34" charset="0"/>
                <a:ea typeface="Bangers" pitchFamily="34" charset="-122"/>
                <a:cs typeface="Bangers" pitchFamily="34" charset="-120"/>
              </a:rPr>
              <a:t>REAL-TIME.</a:t>
            </a:r>
            <a:endParaRPr lang="en-US" sz="6000" dirty="0"/>
          </a:p>
        </p:txBody>
      </p:sp>
      <p:sp>
        <p:nvSpPr>
          <p:cNvPr id="5" name="Text 3"/>
          <p:cNvSpPr/>
          <p:nvPr/>
        </p:nvSpPr>
        <p:spPr>
          <a:xfrm>
            <a:off x="304792" y="6201537"/>
            <a:ext cx="3759106" cy="301724"/>
          </a:xfrm>
          <a:prstGeom prst="rect">
            <a:avLst/>
          </a:prstGeom>
          <a:noFill/>
          <a:ln/>
        </p:spPr>
        <p:txBody>
          <a:bodyPr wrap="none" lIns="0" tIns="0" rIns="0" bIns="0" rtlCol="0" anchor="t"/>
          <a:lstStyle/>
          <a:p>
            <a:pPr algn="l" indent="0" marL="0">
              <a:lnSpc>
                <a:spcPct val="110000"/>
              </a:lnSpc>
              <a:buNone/>
            </a:pPr>
            <a:r>
              <a:rPr lang="en-US" sz="1800" dirty="0">
                <a:solidFill>
                  <a:srgbClr val="FFFFFF"/>
                </a:solidFill>
                <a:latin typeface="Atkinson Hyperlegible" pitchFamily="34" charset="0"/>
                <a:ea typeface="Atkinson Hyperlegible" pitchFamily="34" charset="-122"/>
                <a:cs typeface="Atkinson Hyperlegible" pitchFamily="34" charset="-120"/>
              </a:rPr>
              <a:t>Each tool has one clear job.</a:t>
            </a:r>
            <a:endParaRPr lang="en-US" sz="1800" dirty="0"/>
          </a:p>
        </p:txBody>
      </p:sp>
      <p:sp>
        <p:nvSpPr>
          <p:cNvPr id="6" name="Text 4"/>
          <p:cNvSpPr/>
          <p:nvPr/>
        </p:nvSpPr>
        <p:spPr>
          <a:xfrm>
            <a:off x="4444889" y="394133"/>
            <a:ext cx="7365816" cy="1095177"/>
          </a:xfrm>
          <a:prstGeom prst="rect">
            <a:avLst/>
          </a:prstGeom>
          <a:noFill/>
          <a:ln/>
        </p:spPr>
        <p:txBody>
          <a:bodyPr wrap="square" lIns="0" tIns="0" rIns="0" bIns="0" rtlCol="0" anchor="t">
            <a:normAutofit/>
          </a:bodyPr>
          <a:lstStyle/>
          <a:p>
            <a:pPr algn="l" indent="0" marL="0">
              <a:lnSpc>
                <a:spcPct val="82000"/>
              </a:lnSpc>
              <a:buNone/>
            </a:pPr>
            <a:r>
              <a:rPr lang="en-US" sz="4400" spc="44" kern="100" dirty="0">
                <a:solidFill>
                  <a:srgbClr val="0A1A33"/>
                </a:solidFill>
                <a:latin typeface="Bangers" pitchFamily="34" charset="0"/>
                <a:ea typeface="Bangers" pitchFamily="34" charset="-122"/>
                <a:cs typeface="Bangers" pitchFamily="34" charset="-120"/>
              </a:rPr>
              <a:t>THE STACK IS SIMPLE, FAST, AND BUILT FOR REAL-TIME UPDATES</a:t>
            </a:r>
            <a:endParaRPr lang="en-US" sz="4400" dirty="0"/>
          </a:p>
        </p:txBody>
      </p:sp>
      <p:sp>
        <p:nvSpPr>
          <p:cNvPr id="7" name="Shape 5"/>
          <p:cNvSpPr/>
          <p:nvPr/>
        </p:nvSpPr>
        <p:spPr>
          <a:xfrm>
            <a:off x="4444889" y="1663502"/>
            <a:ext cx="3530512" cy="1878409"/>
          </a:xfrm>
          <a:prstGeom prst="roundRect">
            <a:avLst>
              <a:gd name="adj" fmla="val 608"/>
            </a:avLst>
          </a:prstGeom>
          <a:noFill/>
          <a:ln w="25399">
            <a:solidFill>
              <a:srgbClr val="D8D4D4"/>
            </a:solidFill>
            <a:prstDash val="solid"/>
          </a:ln>
        </p:spPr>
      </p:sp>
      <p:sp>
        <p:nvSpPr>
          <p:cNvPr id="8" name="Text 6"/>
          <p:cNvSpPr/>
          <p:nvPr/>
        </p:nvSpPr>
        <p:spPr>
          <a:xfrm>
            <a:off x="4698882" y="1929757"/>
            <a:ext cx="3022524" cy="312837"/>
          </a:xfrm>
          <a:prstGeom prst="rect">
            <a:avLst/>
          </a:prstGeom>
          <a:noFill/>
          <a:ln/>
        </p:spPr>
        <p:txBody>
          <a:bodyPr wrap="none" lIns="0" tIns="0" rIns="0" bIns="0" rtlCol="0" anchor="t"/>
          <a:lstStyle/>
          <a:p>
            <a:pPr algn="l" indent="0" marL="0">
              <a:lnSpc>
                <a:spcPct val="93000"/>
              </a:lnSpc>
              <a:buNone/>
            </a:pPr>
            <a:r>
              <a:rPr lang="en-US" sz="2200" b="1" dirty="0">
                <a:solidFill>
                  <a:srgbClr val="0A1A33"/>
                </a:solidFill>
                <a:latin typeface="Atkinson Hyperlegible Bold" pitchFamily="34" charset="0"/>
                <a:ea typeface="Atkinson Hyperlegible Bold" pitchFamily="34" charset="-122"/>
                <a:cs typeface="Atkinson Hyperlegible Bold" pitchFamily="34" charset="-120"/>
              </a:rPr>
              <a:t>React</a:t>
            </a:r>
            <a:endParaRPr lang="en-US" sz="2200" dirty="0"/>
          </a:p>
        </p:txBody>
      </p:sp>
      <p:sp>
        <p:nvSpPr>
          <p:cNvPr id="9" name="Text 7"/>
          <p:cNvSpPr/>
          <p:nvPr/>
        </p:nvSpPr>
        <p:spPr>
          <a:xfrm>
            <a:off x="4698882" y="2383500"/>
            <a:ext cx="3022524"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6263D"/>
                </a:solidFill>
                <a:latin typeface="Atkinson Hyperlegible" pitchFamily="34" charset="0"/>
                <a:ea typeface="Atkinson Hyperlegible" pitchFamily="34" charset="-122"/>
                <a:cs typeface="Atkinson Hyperlegible" pitchFamily="34" charset="-120"/>
              </a:rPr>
              <a:t>React powers the interactive experience.</a:t>
            </a:r>
            <a:endParaRPr lang="en-US" sz="1800" dirty="0"/>
          </a:p>
        </p:txBody>
      </p:sp>
      <p:sp>
        <p:nvSpPr>
          <p:cNvPr id="10" name="Shape 8"/>
          <p:cNvSpPr/>
          <p:nvPr/>
        </p:nvSpPr>
        <p:spPr>
          <a:xfrm>
            <a:off x="8280193" y="1663502"/>
            <a:ext cx="3530512" cy="1878409"/>
          </a:xfrm>
          <a:prstGeom prst="roundRect">
            <a:avLst>
              <a:gd name="adj" fmla="val 608"/>
            </a:avLst>
          </a:prstGeom>
          <a:noFill/>
          <a:ln w="25399">
            <a:solidFill>
              <a:srgbClr val="D8D4D4"/>
            </a:solidFill>
            <a:prstDash val="solid"/>
          </a:ln>
        </p:spPr>
      </p:sp>
      <p:sp>
        <p:nvSpPr>
          <p:cNvPr id="11" name="Text 9"/>
          <p:cNvSpPr/>
          <p:nvPr/>
        </p:nvSpPr>
        <p:spPr>
          <a:xfrm>
            <a:off x="8534187" y="1929757"/>
            <a:ext cx="3022524" cy="312837"/>
          </a:xfrm>
          <a:prstGeom prst="rect">
            <a:avLst/>
          </a:prstGeom>
          <a:noFill/>
          <a:ln/>
        </p:spPr>
        <p:txBody>
          <a:bodyPr wrap="none" lIns="0" tIns="0" rIns="0" bIns="0" rtlCol="0" anchor="t"/>
          <a:lstStyle/>
          <a:p>
            <a:pPr algn="l" indent="0" marL="0">
              <a:lnSpc>
                <a:spcPct val="93000"/>
              </a:lnSpc>
              <a:buNone/>
            </a:pPr>
            <a:r>
              <a:rPr lang="en-US" sz="2200" b="1" dirty="0">
                <a:solidFill>
                  <a:srgbClr val="0A1A33"/>
                </a:solidFill>
                <a:latin typeface="Atkinson Hyperlegible Bold" pitchFamily="34" charset="0"/>
                <a:ea typeface="Atkinson Hyperlegible Bold" pitchFamily="34" charset="-122"/>
                <a:cs typeface="Atkinson Hyperlegible Bold" pitchFamily="34" charset="-120"/>
              </a:rPr>
              <a:t>Tailwind CSS</a:t>
            </a:r>
            <a:endParaRPr lang="en-US" sz="2200" dirty="0"/>
          </a:p>
        </p:txBody>
      </p:sp>
      <p:sp>
        <p:nvSpPr>
          <p:cNvPr id="12" name="Text 10"/>
          <p:cNvSpPr/>
          <p:nvPr/>
        </p:nvSpPr>
        <p:spPr>
          <a:xfrm>
            <a:off x="8534187" y="2383500"/>
            <a:ext cx="3022524" cy="905173"/>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6263D"/>
                </a:solidFill>
                <a:latin typeface="Atkinson Hyperlegible" pitchFamily="34" charset="0"/>
                <a:ea typeface="Atkinson Hyperlegible" pitchFamily="34" charset="-122"/>
                <a:cs typeface="Atkinson Hyperlegible" pitchFamily="34" charset="-120"/>
              </a:rPr>
              <a:t>Tailwind CSS keeps the interface consistent and responsive.</a:t>
            </a:r>
            <a:endParaRPr lang="en-US" sz="1800" dirty="0"/>
          </a:p>
        </p:txBody>
      </p:sp>
      <p:sp>
        <p:nvSpPr>
          <p:cNvPr id="13" name="Shape 11"/>
          <p:cNvSpPr/>
          <p:nvPr/>
        </p:nvSpPr>
        <p:spPr>
          <a:xfrm>
            <a:off x="4444889" y="3846711"/>
            <a:ext cx="3530512" cy="1576685"/>
          </a:xfrm>
          <a:prstGeom prst="roundRect">
            <a:avLst>
              <a:gd name="adj" fmla="val 725"/>
            </a:avLst>
          </a:prstGeom>
          <a:noFill/>
          <a:ln w="25399">
            <a:solidFill>
              <a:srgbClr val="D8D4D4"/>
            </a:solidFill>
            <a:prstDash val="solid"/>
          </a:ln>
        </p:spPr>
      </p:sp>
      <p:sp>
        <p:nvSpPr>
          <p:cNvPr id="14" name="Text 12"/>
          <p:cNvSpPr/>
          <p:nvPr/>
        </p:nvSpPr>
        <p:spPr>
          <a:xfrm>
            <a:off x="4698882" y="4112967"/>
            <a:ext cx="3022524" cy="312837"/>
          </a:xfrm>
          <a:prstGeom prst="rect">
            <a:avLst/>
          </a:prstGeom>
          <a:noFill/>
          <a:ln/>
        </p:spPr>
        <p:txBody>
          <a:bodyPr wrap="none" lIns="0" tIns="0" rIns="0" bIns="0" rtlCol="0" anchor="t"/>
          <a:lstStyle/>
          <a:p>
            <a:pPr algn="l" indent="0" marL="0">
              <a:lnSpc>
                <a:spcPct val="93000"/>
              </a:lnSpc>
              <a:buNone/>
            </a:pPr>
            <a:r>
              <a:rPr lang="en-US" sz="2200" b="1" dirty="0">
                <a:solidFill>
                  <a:srgbClr val="0A1A33"/>
                </a:solidFill>
                <a:latin typeface="Atkinson Hyperlegible Bold" pitchFamily="34" charset="0"/>
                <a:ea typeface="Atkinson Hyperlegible Bold" pitchFamily="34" charset="-122"/>
                <a:cs typeface="Atkinson Hyperlegible Bold" pitchFamily="34" charset="-120"/>
              </a:rPr>
              <a:t>Lucide Icons</a:t>
            </a:r>
            <a:endParaRPr lang="en-US" sz="2200" dirty="0"/>
          </a:p>
        </p:txBody>
      </p:sp>
      <p:sp>
        <p:nvSpPr>
          <p:cNvPr id="15" name="Text 13"/>
          <p:cNvSpPr/>
          <p:nvPr/>
        </p:nvSpPr>
        <p:spPr>
          <a:xfrm>
            <a:off x="4698882" y="4566710"/>
            <a:ext cx="3022524"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6263D"/>
                </a:solidFill>
                <a:latin typeface="Atkinson Hyperlegible" pitchFamily="34" charset="0"/>
                <a:ea typeface="Atkinson Hyperlegible" pitchFamily="34" charset="-122"/>
                <a:cs typeface="Atkinson Hyperlegible" pitchFamily="34" charset="-120"/>
              </a:rPr>
              <a:t>Lucide Icons keep actions clear and lightweight.</a:t>
            </a:r>
            <a:endParaRPr lang="en-US" sz="1800" dirty="0"/>
          </a:p>
        </p:txBody>
      </p:sp>
      <p:sp>
        <p:nvSpPr>
          <p:cNvPr id="16" name="Shape 14"/>
          <p:cNvSpPr/>
          <p:nvPr/>
        </p:nvSpPr>
        <p:spPr>
          <a:xfrm>
            <a:off x="8280193" y="3846711"/>
            <a:ext cx="3530512" cy="1576685"/>
          </a:xfrm>
          <a:prstGeom prst="roundRect">
            <a:avLst>
              <a:gd name="adj" fmla="val 725"/>
            </a:avLst>
          </a:prstGeom>
          <a:noFill/>
          <a:ln w="25399">
            <a:solidFill>
              <a:srgbClr val="D8D4D4"/>
            </a:solidFill>
            <a:prstDash val="solid"/>
          </a:ln>
        </p:spPr>
      </p:sp>
      <p:sp>
        <p:nvSpPr>
          <p:cNvPr id="17" name="Text 15"/>
          <p:cNvSpPr/>
          <p:nvPr/>
        </p:nvSpPr>
        <p:spPr>
          <a:xfrm>
            <a:off x="8534187" y="4112967"/>
            <a:ext cx="3022524" cy="312837"/>
          </a:xfrm>
          <a:prstGeom prst="rect">
            <a:avLst/>
          </a:prstGeom>
          <a:noFill/>
          <a:ln/>
        </p:spPr>
        <p:txBody>
          <a:bodyPr wrap="none" lIns="0" tIns="0" rIns="0" bIns="0" rtlCol="0" anchor="t"/>
          <a:lstStyle/>
          <a:p>
            <a:pPr algn="l" indent="0" marL="0">
              <a:lnSpc>
                <a:spcPct val="93000"/>
              </a:lnSpc>
              <a:buNone/>
            </a:pPr>
            <a:r>
              <a:rPr lang="en-US" sz="2200" b="1" dirty="0">
                <a:solidFill>
                  <a:srgbClr val="0A1A33"/>
                </a:solidFill>
                <a:latin typeface="Atkinson Hyperlegible Bold" pitchFamily="34" charset="0"/>
                <a:ea typeface="Atkinson Hyperlegible Bold" pitchFamily="34" charset="-122"/>
                <a:cs typeface="Atkinson Hyperlegible Bold" pitchFamily="34" charset="-120"/>
              </a:rPr>
              <a:t>Firebase</a:t>
            </a:r>
            <a:endParaRPr lang="en-US" sz="2200" dirty="0"/>
          </a:p>
        </p:txBody>
      </p:sp>
      <p:sp>
        <p:nvSpPr>
          <p:cNvPr id="18" name="Text 16"/>
          <p:cNvSpPr/>
          <p:nvPr/>
        </p:nvSpPr>
        <p:spPr>
          <a:xfrm>
            <a:off x="8534187" y="4566710"/>
            <a:ext cx="3022524"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16263D"/>
                </a:solidFill>
                <a:latin typeface="Atkinson Hyperlegible" pitchFamily="34" charset="0"/>
                <a:ea typeface="Atkinson Hyperlegible" pitchFamily="34" charset="-122"/>
                <a:cs typeface="Atkinson Hyperlegible" pitchFamily="34" charset="-120"/>
              </a:rPr>
              <a:t>Firebase supports real-time database syncing.</a:t>
            </a:r>
            <a:endParaRPr lang="en-US" sz="1800" dirty="0"/>
          </a:p>
        </p:txBody>
      </p:sp>
      <p:sp>
        <p:nvSpPr>
          <p:cNvPr id="19" name="Shape 17"/>
          <p:cNvSpPr/>
          <p:nvPr/>
        </p:nvSpPr>
        <p:spPr>
          <a:xfrm>
            <a:off x="4038499" y="0"/>
            <a:ext cx="50799" cy="6858000"/>
          </a:xfrm>
          <a:prstGeom prst="rect">
            <a:avLst/>
          </a:prstGeom>
          <a:solidFill>
            <a:srgbClr val="1F6BFF"/>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867253" cy="6858000"/>
          </a:xfrm>
          <a:prstGeom prst="rect">
            <a:avLst/>
          </a:prstGeom>
        </p:spPr>
      </p:pic>
      <p:sp>
        <p:nvSpPr>
          <p:cNvPr id="3" name="Text 0"/>
          <p:cNvSpPr/>
          <p:nvPr/>
        </p:nvSpPr>
        <p:spPr>
          <a:xfrm>
            <a:off x="6857828" y="310125"/>
            <a:ext cx="5333867" cy="197148"/>
          </a:xfrm>
          <a:prstGeom prst="rect">
            <a:avLst/>
          </a:prstGeom>
          <a:noFill/>
          <a:ln/>
        </p:spPr>
        <p:txBody>
          <a:bodyPr wrap="none" lIns="0" tIns="0" rIns="0" bIns="0" rtlCol="0" anchor="t"/>
          <a:lstStyle/>
          <a:p>
            <a:pPr algn="l" indent="0" marL="0">
              <a:lnSpc>
                <a:spcPct val="96000"/>
              </a:lnSpc>
              <a:buNone/>
            </a:pPr>
            <a:r>
              <a:rPr lang="en-US" sz="1350" b="1" spc="94" kern="100" dirty="0">
                <a:solidFill>
                  <a:srgbClr val="1F6BFF"/>
                </a:solidFill>
                <a:latin typeface="Atkinson Hyperlegible Bold" pitchFamily="34" charset="0"/>
                <a:ea typeface="Atkinson Hyperlegible Bold" pitchFamily="34" charset="-122"/>
                <a:cs typeface="Atkinson Hyperlegible Bold" pitchFamily="34" charset="-120"/>
              </a:rPr>
              <a:t>NEXT ITERATION</a:t>
            </a:r>
            <a:endParaRPr lang="en-US" sz="1350" dirty="0"/>
          </a:p>
        </p:txBody>
      </p:sp>
      <p:sp>
        <p:nvSpPr>
          <p:cNvPr id="4" name="Text 1"/>
          <p:cNvSpPr/>
          <p:nvPr/>
        </p:nvSpPr>
        <p:spPr>
          <a:xfrm>
            <a:off x="6857828" y="626205"/>
            <a:ext cx="4800480" cy="1642765"/>
          </a:xfrm>
          <a:prstGeom prst="rect">
            <a:avLst/>
          </a:prstGeom>
          <a:noFill/>
          <a:ln/>
        </p:spPr>
        <p:txBody>
          <a:bodyPr wrap="square" lIns="0" tIns="0" rIns="0" bIns="0" rtlCol="0" anchor="t">
            <a:normAutofit/>
          </a:bodyPr>
          <a:lstStyle/>
          <a:p>
            <a:pPr algn="l" indent="0" marL="0">
              <a:lnSpc>
                <a:spcPct val="82000"/>
              </a:lnSpc>
              <a:buNone/>
            </a:pPr>
            <a:r>
              <a:rPr lang="en-US" sz="4400" spc="44" kern="100" dirty="0">
                <a:solidFill>
                  <a:srgbClr val="0A1A33"/>
                </a:solidFill>
                <a:latin typeface="Bangers" pitchFamily="34" charset="0"/>
                <a:ea typeface="Bangers" pitchFamily="34" charset="-122"/>
                <a:cs typeface="Bangers" pitchFamily="34" charset="-120"/>
              </a:rPr>
              <a:t>NEXT, CAMPUSPULSE CAN REMOVE EVEN MORE ADMIN WORK</a:t>
            </a:r>
            <a:endParaRPr lang="en-US" sz="4400" dirty="0"/>
          </a:p>
        </p:txBody>
      </p:sp>
      <p:sp>
        <p:nvSpPr>
          <p:cNvPr id="5" name="Shape 2"/>
          <p:cNvSpPr/>
          <p:nvPr/>
        </p:nvSpPr>
        <p:spPr>
          <a:xfrm>
            <a:off x="7086423" y="2544763"/>
            <a:ext cx="516917" cy="516930"/>
          </a:xfrm>
          <a:prstGeom prst="ellipse">
            <a:avLst/>
          </a:prstGeom>
          <a:solidFill>
            <a:srgbClr val="1F6BFF"/>
          </a:solidFill>
          <a:ln w="12700">
            <a:solidFill>
              <a:srgbClr val="D8D4D4"/>
            </a:solidFill>
            <a:prstDash val="solid"/>
          </a:ln>
          <a:effectLst>
            <a:outerShdw sx="100000" sy="100000" kx="0" ky="0" algn="bl" rotWithShape="0" blurRad="127" dist="29210" dir="2700000">
              <a:srgbClr val="d8d4d4">
                <a:alpha val="100000"/>
              </a:srgbClr>
            </a:outerShdw>
          </a:effectLst>
        </p:spPr>
      </p:sp>
      <p:sp>
        <p:nvSpPr>
          <p:cNvPr id="6" name="Text 3"/>
          <p:cNvSpPr/>
          <p:nvPr/>
        </p:nvSpPr>
        <p:spPr>
          <a:xfrm>
            <a:off x="7156271" y="2631777"/>
            <a:ext cx="986805" cy="342900"/>
          </a:xfrm>
          <a:prstGeom prst="rect">
            <a:avLst/>
          </a:prstGeom>
          <a:noFill/>
          <a:ln/>
        </p:spPr>
        <p:txBody>
          <a:bodyPr wrap="none" lIns="0" tIns="0" rIns="0" bIns="0" rtlCol="0" anchor="t"/>
          <a:lstStyle/>
          <a:p>
            <a:pPr algn="l" indent="0" marL="0">
              <a:lnSpc>
                <a:spcPct val="83000"/>
              </a:lnSpc>
              <a:buNone/>
            </a:pPr>
            <a:r>
              <a:rPr lang="en-US" sz="2700" b="1" dirty="0">
                <a:solidFill>
                  <a:srgbClr val="FFFFFF"/>
                </a:solidFill>
                <a:latin typeface="Atkinson Hyperlegible Bold" pitchFamily="34" charset="0"/>
                <a:ea typeface="Atkinson Hyperlegible Bold" pitchFamily="34" charset="-122"/>
                <a:cs typeface="Atkinson Hyperlegible Bold" pitchFamily="34" charset="-120"/>
              </a:rPr>
              <a:t>01</a:t>
            </a:r>
            <a:endParaRPr lang="en-US" sz="2700" dirty="0"/>
          </a:p>
        </p:txBody>
      </p:sp>
      <p:sp>
        <p:nvSpPr>
          <p:cNvPr id="7" name="Text 4"/>
          <p:cNvSpPr/>
          <p:nvPr/>
        </p:nvSpPr>
        <p:spPr>
          <a:xfrm>
            <a:off x="7755736" y="2689689"/>
            <a:ext cx="3673978" cy="905173"/>
          </a:xfrm>
          <a:prstGeom prst="rect">
            <a:avLst/>
          </a:prstGeom>
          <a:noFill/>
          <a:ln/>
        </p:spPr>
        <p:txBody>
          <a:bodyPr wrap="square" lIns="0" tIns="0" rIns="0" bIns="0" rtlCol="0" anchor="t">
            <a:normAutofit/>
          </a:bodyPr>
          <a:lstStyle/>
          <a:p>
            <a:pPr algn="l" indent="0" marL="0">
              <a:lnSpc>
                <a:spcPct val="110000"/>
              </a:lnSpc>
              <a:buNone/>
            </a:pPr>
            <a:r>
              <a:rPr lang="en-US" sz="1800" b="1" dirty="0">
                <a:solidFill>
                  <a:srgbClr val="16263D"/>
                </a:solidFill>
                <a:latin typeface="Atkinson Hyperlegible Bold" pitchFamily="34" charset="0"/>
                <a:ea typeface="Atkinson Hyperlegible Bold" pitchFamily="34" charset="-122"/>
                <a:cs typeface="Atkinson Hyperlegible Bold" pitchFamily="34" charset="-120"/>
              </a:rPr>
              <a:t>Scan event posters with AI to create draft listings automatically</a:t>
            </a:r>
            <a:endParaRPr lang="en-US" sz="1800" dirty="0"/>
          </a:p>
        </p:txBody>
      </p:sp>
      <p:sp>
        <p:nvSpPr>
          <p:cNvPr id="8" name="Shape 5"/>
          <p:cNvSpPr/>
          <p:nvPr/>
        </p:nvSpPr>
        <p:spPr>
          <a:xfrm>
            <a:off x="7086423" y="3949700"/>
            <a:ext cx="564243" cy="564257"/>
          </a:xfrm>
          <a:prstGeom prst="ellipse">
            <a:avLst/>
          </a:prstGeom>
          <a:solidFill>
            <a:srgbClr val="1F6BFF"/>
          </a:solidFill>
          <a:ln w="12700">
            <a:solidFill>
              <a:srgbClr val="D8D4D4"/>
            </a:solidFill>
            <a:prstDash val="solid"/>
          </a:ln>
          <a:effectLst>
            <a:outerShdw sx="100000" sy="100000" kx="0" ky="0" algn="bl" rotWithShape="0" blurRad="127" dist="29210" dir="2700000">
              <a:srgbClr val="d8d4d4">
                <a:alpha val="100000"/>
              </a:srgbClr>
            </a:outerShdw>
          </a:effectLst>
        </p:spPr>
      </p:sp>
      <p:sp>
        <p:nvSpPr>
          <p:cNvPr id="9" name="Text 6"/>
          <p:cNvSpPr/>
          <p:nvPr/>
        </p:nvSpPr>
        <p:spPr>
          <a:xfrm>
            <a:off x="7156271" y="4060329"/>
            <a:ext cx="1034131" cy="342900"/>
          </a:xfrm>
          <a:prstGeom prst="rect">
            <a:avLst/>
          </a:prstGeom>
          <a:noFill/>
          <a:ln/>
        </p:spPr>
        <p:txBody>
          <a:bodyPr wrap="none" lIns="0" tIns="0" rIns="0" bIns="0" rtlCol="0" anchor="t"/>
          <a:lstStyle/>
          <a:p>
            <a:pPr algn="l" indent="0" marL="0">
              <a:lnSpc>
                <a:spcPct val="83000"/>
              </a:lnSpc>
              <a:buNone/>
            </a:pPr>
            <a:r>
              <a:rPr lang="en-US" sz="2700" b="1" dirty="0">
                <a:solidFill>
                  <a:srgbClr val="FFFFFF"/>
                </a:solidFill>
                <a:latin typeface="Atkinson Hyperlegible Bold" pitchFamily="34" charset="0"/>
                <a:ea typeface="Atkinson Hyperlegible Bold" pitchFamily="34" charset="-122"/>
                <a:cs typeface="Atkinson Hyperlegible Bold" pitchFamily="34" charset="-120"/>
              </a:rPr>
              <a:t>02</a:t>
            </a:r>
            <a:endParaRPr lang="en-US" sz="2700" dirty="0"/>
          </a:p>
        </p:txBody>
      </p:sp>
      <p:sp>
        <p:nvSpPr>
          <p:cNvPr id="10" name="Text 7"/>
          <p:cNvSpPr/>
          <p:nvPr/>
        </p:nvSpPr>
        <p:spPr>
          <a:xfrm>
            <a:off x="7803062" y="4118241"/>
            <a:ext cx="3626652" cy="603448"/>
          </a:xfrm>
          <a:prstGeom prst="rect">
            <a:avLst/>
          </a:prstGeom>
          <a:noFill/>
          <a:ln/>
        </p:spPr>
        <p:txBody>
          <a:bodyPr wrap="square" lIns="0" tIns="0" rIns="0" bIns="0" rtlCol="0" anchor="t">
            <a:normAutofit/>
          </a:bodyPr>
          <a:lstStyle/>
          <a:p>
            <a:pPr algn="l" indent="0" marL="0">
              <a:lnSpc>
                <a:spcPct val="110000"/>
              </a:lnSpc>
              <a:buNone/>
            </a:pPr>
            <a:r>
              <a:rPr lang="en-US" sz="1800" b="1" dirty="0">
                <a:solidFill>
                  <a:srgbClr val="16263D"/>
                </a:solidFill>
                <a:latin typeface="Atkinson Hyperlegible Bold" pitchFamily="34" charset="0"/>
                <a:ea typeface="Atkinson Hyperlegible Bold" pitchFamily="34" charset="-122"/>
                <a:cs typeface="Atkinson Hyperlegible Bold" pitchFamily="34" charset="-120"/>
              </a:rPr>
              <a:t>Move approvals from paper to a digital workflow</a:t>
            </a:r>
            <a:endParaRPr lang="en-US" sz="1800" dirty="0"/>
          </a:p>
        </p:txBody>
      </p:sp>
      <p:sp>
        <p:nvSpPr>
          <p:cNvPr id="11" name="Shape 8"/>
          <p:cNvSpPr/>
          <p:nvPr/>
        </p:nvSpPr>
        <p:spPr>
          <a:xfrm>
            <a:off x="7086423" y="5076527"/>
            <a:ext cx="570791" cy="570805"/>
          </a:xfrm>
          <a:prstGeom prst="ellipse">
            <a:avLst/>
          </a:prstGeom>
          <a:solidFill>
            <a:srgbClr val="1F6BFF"/>
          </a:solidFill>
          <a:ln w="12700">
            <a:solidFill>
              <a:srgbClr val="D8D4D4"/>
            </a:solidFill>
            <a:prstDash val="solid"/>
          </a:ln>
          <a:effectLst>
            <a:outerShdw sx="100000" sy="100000" kx="0" ky="0" algn="bl" rotWithShape="0" blurRad="127" dist="29210" dir="2700000">
              <a:srgbClr val="d8d4d4">
                <a:alpha val="100000"/>
              </a:srgbClr>
            </a:outerShdw>
          </a:effectLst>
        </p:spPr>
      </p:sp>
      <p:sp>
        <p:nvSpPr>
          <p:cNvPr id="12" name="Text 9"/>
          <p:cNvSpPr/>
          <p:nvPr/>
        </p:nvSpPr>
        <p:spPr>
          <a:xfrm>
            <a:off x="7156271" y="5190430"/>
            <a:ext cx="1040679" cy="342900"/>
          </a:xfrm>
          <a:prstGeom prst="rect">
            <a:avLst/>
          </a:prstGeom>
          <a:noFill/>
          <a:ln/>
        </p:spPr>
        <p:txBody>
          <a:bodyPr wrap="none" lIns="0" tIns="0" rIns="0" bIns="0" rtlCol="0" anchor="t"/>
          <a:lstStyle/>
          <a:p>
            <a:pPr algn="l" indent="0" marL="0">
              <a:lnSpc>
                <a:spcPct val="83000"/>
              </a:lnSpc>
              <a:buNone/>
            </a:pPr>
            <a:r>
              <a:rPr lang="en-US" sz="2700" b="1" dirty="0">
                <a:solidFill>
                  <a:srgbClr val="FFFFFF"/>
                </a:solidFill>
                <a:latin typeface="Atkinson Hyperlegible Bold" pitchFamily="34" charset="0"/>
                <a:ea typeface="Atkinson Hyperlegible Bold" pitchFamily="34" charset="-122"/>
                <a:cs typeface="Atkinson Hyperlegible Bold" pitchFamily="34" charset="-120"/>
              </a:rPr>
              <a:t>03</a:t>
            </a:r>
            <a:endParaRPr lang="en-US" sz="2700" dirty="0"/>
          </a:p>
        </p:txBody>
      </p:sp>
      <p:sp>
        <p:nvSpPr>
          <p:cNvPr id="13" name="Text 10"/>
          <p:cNvSpPr/>
          <p:nvPr/>
        </p:nvSpPr>
        <p:spPr>
          <a:xfrm>
            <a:off x="7809610" y="5248342"/>
            <a:ext cx="3620104" cy="603448"/>
          </a:xfrm>
          <a:prstGeom prst="rect">
            <a:avLst/>
          </a:prstGeom>
          <a:noFill/>
          <a:ln/>
        </p:spPr>
        <p:txBody>
          <a:bodyPr wrap="square" lIns="0" tIns="0" rIns="0" bIns="0" rtlCol="0" anchor="t">
            <a:normAutofit/>
          </a:bodyPr>
          <a:lstStyle/>
          <a:p>
            <a:pPr algn="l" indent="0" marL="0">
              <a:lnSpc>
                <a:spcPct val="110000"/>
              </a:lnSpc>
              <a:buNone/>
            </a:pPr>
            <a:r>
              <a:rPr lang="en-US" sz="1800" b="1" dirty="0">
                <a:solidFill>
                  <a:srgbClr val="16263D"/>
                </a:solidFill>
                <a:latin typeface="Atkinson Hyperlegible Bold" pitchFamily="34" charset="0"/>
                <a:ea typeface="Atkinson Hyperlegible Bold" pitchFamily="34" charset="-122"/>
                <a:cs typeface="Atkinson Hyperlegible Bold" pitchFamily="34" charset="-120"/>
              </a:rPr>
              <a:t>Use campus data to improve timing, reach, and planning</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80990" y="360925"/>
            <a:ext cx="11810705" cy="197148"/>
          </a:xfrm>
          <a:prstGeom prst="rect">
            <a:avLst/>
          </a:prstGeom>
          <a:noFill/>
          <a:ln/>
        </p:spPr>
        <p:txBody>
          <a:bodyPr wrap="none" lIns="0" tIns="0" rIns="0" bIns="0" rtlCol="0" anchor="t"/>
          <a:lstStyle/>
          <a:p>
            <a:pPr algn="l" indent="0" marL="0">
              <a:lnSpc>
                <a:spcPct val="96000"/>
              </a:lnSpc>
              <a:buNone/>
            </a:pPr>
            <a:r>
              <a:rPr lang="en-US" sz="1350" b="1" spc="94" kern="100" dirty="0">
                <a:solidFill>
                  <a:srgbClr val="1F6BFF"/>
                </a:solidFill>
                <a:latin typeface="Atkinson Hyperlegible Bold" pitchFamily="34" charset="0"/>
                <a:ea typeface="Atkinson Hyperlegible Bold" pitchFamily="34" charset="-122"/>
                <a:cs typeface="Atkinson Hyperlegible Bold" pitchFamily="34" charset="-120"/>
              </a:rPr>
              <a:t>THE VALUE</a:t>
            </a:r>
            <a:endParaRPr lang="en-US" sz="1350" dirty="0"/>
          </a:p>
        </p:txBody>
      </p:sp>
      <p:sp>
        <p:nvSpPr>
          <p:cNvPr id="3" name="Text 1"/>
          <p:cNvSpPr/>
          <p:nvPr/>
        </p:nvSpPr>
        <p:spPr>
          <a:xfrm>
            <a:off x="380990" y="677005"/>
            <a:ext cx="11429714" cy="1095177"/>
          </a:xfrm>
          <a:prstGeom prst="rect">
            <a:avLst/>
          </a:prstGeom>
          <a:noFill/>
          <a:ln/>
        </p:spPr>
        <p:txBody>
          <a:bodyPr wrap="square" lIns="0" tIns="0" rIns="0" bIns="0" rtlCol="0" anchor="t">
            <a:normAutofit/>
          </a:bodyPr>
          <a:lstStyle/>
          <a:p>
            <a:pPr algn="l" indent="0" marL="0">
              <a:lnSpc>
                <a:spcPct val="82000"/>
              </a:lnSpc>
              <a:buNone/>
            </a:pPr>
            <a:r>
              <a:rPr lang="en-US" sz="4400" spc="44" kern="100" dirty="0">
                <a:solidFill>
                  <a:srgbClr val="0A1A33"/>
                </a:solidFill>
                <a:latin typeface="Bangers" pitchFamily="34" charset="0"/>
                <a:ea typeface="Bangers" pitchFamily="34" charset="-122"/>
                <a:cs typeface="Bangers" pitchFamily="34" charset="-120"/>
              </a:rPr>
              <a:t>BETTER DISCOVERY FOR STUDENTS. BETTER VISIBILITY FOR COLLEGES.</a:t>
            </a:r>
            <a:endParaRPr lang="en-US" sz="4400" dirty="0"/>
          </a:p>
        </p:txBody>
      </p:sp>
      <p:sp>
        <p:nvSpPr>
          <p:cNvPr id="4" name="Shape 2"/>
          <p:cNvSpPr/>
          <p:nvPr/>
        </p:nvSpPr>
        <p:spPr>
          <a:xfrm>
            <a:off x="380990" y="1946374"/>
            <a:ext cx="3809905" cy="4505226"/>
          </a:xfrm>
          <a:custGeom>
            <a:avLst/>
            <a:gdLst/>
            <a:ahLst/>
            <a:cxnLst/>
            <a:rect l="l" t="t" r="r" b="b"/>
            <a:pathLst>
              <a:path w="3809905" h="4505226">
                <a:moveTo>
                  <a:pt x="9525" y="0"/>
                </a:moveTo>
                <a:lnTo>
                  <a:pt x="3809905" y="0"/>
                </a:lnTo>
                <a:lnTo>
                  <a:pt x="3809905" y="4505226"/>
                </a:lnTo>
                <a:lnTo>
                  <a:pt x="9525" y="4505226"/>
                </a:lnTo>
                <a:arcTo hR="9525" wR="9525" stAng="5400000" swAng="5400000"/>
                <a:lnTo>
                  <a:pt x="0" y="9525"/>
                </a:lnTo>
                <a:arcTo hR="9525" wR="9525" stAng="10800000" swAng="5400000"/>
                <a:close/>
              </a:path>
            </a:pathLst>
          </a:custGeom>
          <a:solidFill>
            <a:srgbClr val="0E2A4F"/>
          </a:solidFill>
          <a:ln/>
        </p:spPr>
      </p:sp>
      <p:pic>
        <p:nvPicPr>
          <p:cNvPr id="5" name="Image 0" descr="preencoded.png">    </p:cNvPr>
          <p:cNvPicPr>
            <a:picLocks noChangeAspect="1"/>
          </p:cNvPicPr>
          <p:nvPr/>
        </p:nvPicPr>
        <p:blipFill>
          <a:blip r:embed="rId1"/>
          <a:stretch>
            <a:fillRect/>
          </a:stretch>
        </p:blipFill>
        <p:spPr>
          <a:xfrm>
            <a:off x="634984" y="2225774"/>
            <a:ext cx="457189" cy="457200"/>
          </a:xfrm>
          <a:prstGeom prst="rect">
            <a:avLst/>
          </a:prstGeom>
        </p:spPr>
      </p:pic>
      <p:sp>
        <p:nvSpPr>
          <p:cNvPr id="6" name="Text 3"/>
          <p:cNvSpPr/>
          <p:nvPr/>
        </p:nvSpPr>
        <p:spPr>
          <a:xfrm>
            <a:off x="634984" y="2823944"/>
            <a:ext cx="3301917" cy="426641"/>
          </a:xfrm>
          <a:prstGeom prst="rect">
            <a:avLst/>
          </a:prstGeom>
          <a:noFill/>
          <a:ln/>
        </p:spPr>
        <p:txBody>
          <a:bodyPr wrap="none" lIns="0" tIns="0" rIns="0" bIns="0" rtlCol="0" anchor="t"/>
          <a:lstStyle/>
          <a:p>
            <a:pPr algn="l" indent="0" marL="0">
              <a:lnSpc>
                <a:spcPct val="93000"/>
              </a:lnSpc>
              <a:buNone/>
            </a:pPr>
            <a:r>
              <a:rPr lang="en-US" sz="3000" b="1" dirty="0">
                <a:solidFill>
                  <a:srgbClr val="FFFFFF"/>
                </a:solidFill>
                <a:latin typeface="Atkinson Hyperlegible Bold" pitchFamily="34" charset="0"/>
                <a:ea typeface="Atkinson Hyperlegible Bold" pitchFamily="34" charset="-122"/>
                <a:cs typeface="Atkinson Hyperlegible Bold" pitchFamily="34" charset="-120"/>
              </a:rPr>
              <a:t>Students</a:t>
            </a:r>
            <a:endParaRPr lang="en-US" sz="3000" dirty="0"/>
          </a:p>
        </p:txBody>
      </p:sp>
      <p:sp>
        <p:nvSpPr>
          <p:cNvPr id="7" name="Text 4"/>
          <p:cNvSpPr/>
          <p:nvPr/>
        </p:nvSpPr>
        <p:spPr>
          <a:xfrm>
            <a:off x="634984" y="3388316"/>
            <a:ext cx="3301917" cy="704056"/>
          </a:xfrm>
          <a:prstGeom prst="rect">
            <a:avLst/>
          </a:prstGeom>
          <a:noFill/>
          <a:ln/>
        </p:spPr>
        <p:txBody>
          <a:bodyPr wrap="square" lIns="0" tIns="0" rIns="0" bIns="0" rtlCol="0" anchor="t">
            <a:normAutofit/>
          </a:bodyPr>
          <a:lstStyle/>
          <a:p>
            <a:pPr algn="l" indent="0" marL="0">
              <a:lnSpc>
                <a:spcPct val="110000"/>
              </a:lnSpc>
              <a:buNone/>
            </a:pPr>
            <a:r>
              <a:rPr lang="en-US" sz="2100" dirty="0">
                <a:solidFill>
                  <a:srgbClr val="FFFFFF"/>
                </a:solidFill>
                <a:latin typeface="Atkinson Hyperlegible" pitchFamily="34" charset="0"/>
                <a:ea typeface="Atkinson Hyperlegible" pitchFamily="34" charset="-122"/>
                <a:cs typeface="Atkinson Hyperlegible" pitchFamily="34" charset="-120"/>
              </a:rPr>
              <a:t>Students find more opportunities to participate.</a:t>
            </a:r>
            <a:endParaRPr lang="en-US" sz="2100" dirty="0"/>
          </a:p>
        </p:txBody>
      </p:sp>
      <p:sp>
        <p:nvSpPr>
          <p:cNvPr id="8" name="Shape 5"/>
          <p:cNvSpPr/>
          <p:nvPr/>
        </p:nvSpPr>
        <p:spPr>
          <a:xfrm>
            <a:off x="4190895" y="1946374"/>
            <a:ext cx="3809905" cy="4505226"/>
          </a:xfrm>
          <a:prstGeom prst="rect">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4444889" y="2225774"/>
            <a:ext cx="457189" cy="457200"/>
          </a:xfrm>
          <a:prstGeom prst="rect">
            <a:avLst/>
          </a:prstGeom>
        </p:spPr>
      </p:pic>
      <p:sp>
        <p:nvSpPr>
          <p:cNvPr id="10" name="Text 6"/>
          <p:cNvSpPr/>
          <p:nvPr/>
        </p:nvSpPr>
        <p:spPr>
          <a:xfrm>
            <a:off x="4444889" y="2823944"/>
            <a:ext cx="3301917" cy="426641"/>
          </a:xfrm>
          <a:prstGeom prst="rect">
            <a:avLst/>
          </a:prstGeom>
          <a:noFill/>
          <a:ln/>
        </p:spPr>
        <p:txBody>
          <a:bodyPr wrap="none" lIns="0" tIns="0" rIns="0" bIns="0" rtlCol="0" anchor="t"/>
          <a:lstStyle/>
          <a:p>
            <a:pPr algn="l" indent="0" marL="0">
              <a:lnSpc>
                <a:spcPct val="93000"/>
              </a:lnSpc>
              <a:buNone/>
            </a:pPr>
            <a:r>
              <a:rPr lang="en-US" sz="3000" b="1" dirty="0">
                <a:solidFill>
                  <a:srgbClr val="16263D"/>
                </a:solidFill>
                <a:latin typeface="Atkinson Hyperlegible Bold" pitchFamily="34" charset="0"/>
                <a:ea typeface="Atkinson Hyperlegible Bold" pitchFamily="34" charset="-122"/>
                <a:cs typeface="Atkinson Hyperlegible Bold" pitchFamily="34" charset="-120"/>
              </a:rPr>
              <a:t>Organizers</a:t>
            </a:r>
            <a:endParaRPr lang="en-US" sz="3000" dirty="0"/>
          </a:p>
        </p:txBody>
      </p:sp>
      <p:sp>
        <p:nvSpPr>
          <p:cNvPr id="11" name="Text 7"/>
          <p:cNvSpPr/>
          <p:nvPr/>
        </p:nvSpPr>
        <p:spPr>
          <a:xfrm>
            <a:off x="4444889" y="3388316"/>
            <a:ext cx="3301917" cy="1056084"/>
          </a:xfrm>
          <a:prstGeom prst="rect">
            <a:avLst/>
          </a:prstGeom>
          <a:noFill/>
          <a:ln/>
        </p:spPr>
        <p:txBody>
          <a:bodyPr wrap="square" lIns="0" tIns="0" rIns="0" bIns="0" rtlCol="0" anchor="t">
            <a:normAutofit/>
          </a:bodyPr>
          <a:lstStyle/>
          <a:p>
            <a:pPr algn="l" indent="0" marL="0">
              <a:lnSpc>
                <a:spcPct val="110000"/>
              </a:lnSpc>
              <a:buNone/>
            </a:pPr>
            <a:r>
              <a:rPr lang="en-US" sz="2100" dirty="0">
                <a:solidFill>
                  <a:srgbClr val="16263D"/>
                </a:solidFill>
                <a:latin typeface="Atkinson Hyperlegible" pitchFamily="34" charset="0"/>
                <a:ea typeface="Atkinson Hyperlegible" pitchFamily="34" charset="-122"/>
                <a:cs typeface="Atkinson Hyperlegible" pitchFamily="34" charset="-120"/>
              </a:rPr>
              <a:t>Organizers spend less time on forms, conflicts, and counting.</a:t>
            </a:r>
            <a:endParaRPr lang="en-US" sz="2100" dirty="0"/>
          </a:p>
        </p:txBody>
      </p:sp>
      <p:sp>
        <p:nvSpPr>
          <p:cNvPr id="12" name="Shape 8"/>
          <p:cNvSpPr/>
          <p:nvPr/>
        </p:nvSpPr>
        <p:spPr>
          <a:xfrm>
            <a:off x="8000800" y="1946374"/>
            <a:ext cx="3809905" cy="4505226"/>
          </a:xfrm>
          <a:custGeom>
            <a:avLst/>
            <a:gdLst/>
            <a:ahLst/>
            <a:cxnLst/>
            <a:rect l="l" t="t" r="r" b="b"/>
            <a:pathLst>
              <a:path w="3809905" h="4505226">
                <a:moveTo>
                  <a:pt x="0" y="0"/>
                </a:moveTo>
                <a:lnTo>
                  <a:pt x="3800380" y="0"/>
                </a:lnTo>
                <a:arcTo hR="9525" wR="9525" stAng="16200000" swAng="5400000"/>
                <a:lnTo>
                  <a:pt x="3809905" y="4495701"/>
                </a:lnTo>
                <a:arcTo hR="9525" wR="9525" stAng="0" swAng="5400000"/>
                <a:lnTo>
                  <a:pt x="0" y="4505226"/>
                </a:lnTo>
                <a:lnTo>
                  <a:pt x="0" y="0"/>
                </a:lnTo>
                <a:close/>
              </a:path>
            </a:pathLst>
          </a:custGeom>
          <a:solidFill>
            <a:srgbClr val="16365F"/>
          </a:solidFill>
          <a:ln/>
        </p:spPr>
      </p:sp>
      <p:pic>
        <p:nvPicPr>
          <p:cNvPr id="13" name="Image 2" descr="preencoded.png">    </p:cNvPr>
          <p:cNvPicPr>
            <a:picLocks noChangeAspect="1"/>
          </p:cNvPicPr>
          <p:nvPr/>
        </p:nvPicPr>
        <p:blipFill>
          <a:blip r:embed="rId3"/>
          <a:stretch>
            <a:fillRect/>
          </a:stretch>
        </p:blipFill>
        <p:spPr>
          <a:xfrm>
            <a:off x="8254793" y="2225774"/>
            <a:ext cx="457189" cy="457200"/>
          </a:xfrm>
          <a:prstGeom prst="rect">
            <a:avLst/>
          </a:prstGeom>
        </p:spPr>
      </p:pic>
      <p:sp>
        <p:nvSpPr>
          <p:cNvPr id="14" name="Text 9"/>
          <p:cNvSpPr/>
          <p:nvPr/>
        </p:nvSpPr>
        <p:spPr>
          <a:xfrm>
            <a:off x="8254793" y="2823944"/>
            <a:ext cx="3301917" cy="426641"/>
          </a:xfrm>
          <a:prstGeom prst="rect">
            <a:avLst/>
          </a:prstGeom>
          <a:noFill/>
          <a:ln/>
        </p:spPr>
        <p:txBody>
          <a:bodyPr wrap="none" lIns="0" tIns="0" rIns="0" bIns="0" rtlCol="0" anchor="t"/>
          <a:lstStyle/>
          <a:p>
            <a:pPr algn="l" indent="0" marL="0">
              <a:lnSpc>
                <a:spcPct val="93000"/>
              </a:lnSpc>
              <a:buNone/>
            </a:pPr>
            <a:r>
              <a:rPr lang="en-US" sz="3000" b="1" dirty="0">
                <a:solidFill>
                  <a:srgbClr val="FFFFFF"/>
                </a:solidFill>
                <a:latin typeface="Atkinson Hyperlegible Bold" pitchFamily="34" charset="0"/>
                <a:ea typeface="Atkinson Hyperlegible Bold" pitchFamily="34" charset="-122"/>
                <a:cs typeface="Atkinson Hyperlegible Bold" pitchFamily="34" charset="-120"/>
              </a:rPr>
              <a:t>Colleges</a:t>
            </a:r>
            <a:endParaRPr lang="en-US" sz="3000" dirty="0"/>
          </a:p>
        </p:txBody>
      </p:sp>
      <p:sp>
        <p:nvSpPr>
          <p:cNvPr id="15" name="Text 10"/>
          <p:cNvSpPr/>
          <p:nvPr/>
        </p:nvSpPr>
        <p:spPr>
          <a:xfrm>
            <a:off x="8254793" y="3388316"/>
            <a:ext cx="3301917" cy="1056084"/>
          </a:xfrm>
          <a:prstGeom prst="rect">
            <a:avLst/>
          </a:prstGeom>
          <a:noFill/>
          <a:ln/>
        </p:spPr>
        <p:txBody>
          <a:bodyPr wrap="square" lIns="0" tIns="0" rIns="0" bIns="0" rtlCol="0" anchor="t">
            <a:normAutofit/>
          </a:bodyPr>
          <a:lstStyle/>
          <a:p>
            <a:pPr algn="l" indent="0" marL="0">
              <a:lnSpc>
                <a:spcPct val="110000"/>
              </a:lnSpc>
              <a:buNone/>
            </a:pPr>
            <a:r>
              <a:rPr lang="en-US" sz="2100" dirty="0">
                <a:solidFill>
                  <a:srgbClr val="FFFFFF"/>
                </a:solidFill>
                <a:latin typeface="Atkinson Hyperlegible" pitchFamily="34" charset="0"/>
                <a:ea typeface="Atkinson Hyperlegible" pitchFamily="34" charset="-122"/>
                <a:cs typeface="Atkinson Hyperlegible" pitchFamily="34" charset="-120"/>
              </a:rPr>
              <a:t>Colleges gain a clearer view of engagement and event demand.</a:t>
            </a:r>
            <a:endParaRPr lang="en-US" sz="2100" dirty="0"/>
          </a:p>
        </p:txBody>
      </p:sp>
      <p:sp>
        <p:nvSpPr>
          <p:cNvPr id="16" name="Shape 11"/>
          <p:cNvSpPr/>
          <p:nvPr/>
        </p:nvSpPr>
        <p:spPr>
          <a:xfrm>
            <a:off x="4159146" y="1946374"/>
            <a:ext cx="63498" cy="4505226"/>
          </a:xfrm>
          <a:prstGeom prst="rect">
            <a:avLst/>
          </a:prstGeom>
          <a:solidFill>
            <a:srgbClr val="1F6BFF"/>
          </a:solidFill>
          <a:ln/>
        </p:spPr>
      </p:sp>
      <p:sp>
        <p:nvSpPr>
          <p:cNvPr id="17" name="Shape 12"/>
          <p:cNvSpPr/>
          <p:nvPr/>
        </p:nvSpPr>
        <p:spPr>
          <a:xfrm>
            <a:off x="7969051" y="1946374"/>
            <a:ext cx="63498" cy="4505226"/>
          </a:xfrm>
          <a:prstGeom prst="rect">
            <a:avLst/>
          </a:prstGeom>
          <a:solidFill>
            <a:srgbClr val="1F6BFF"/>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5260" y="800100"/>
            <a:ext cx="10561076" cy="1999456"/>
          </a:xfrm>
          <a:prstGeom prst="rect">
            <a:avLst/>
          </a:prstGeom>
        </p:spPr>
      </p:pic>
      <p:sp>
        <p:nvSpPr>
          <p:cNvPr id="3" name="Text 0"/>
          <p:cNvSpPr/>
          <p:nvPr/>
        </p:nvSpPr>
        <p:spPr>
          <a:xfrm>
            <a:off x="1043805" y="1109610"/>
            <a:ext cx="10103887" cy="1542256"/>
          </a:xfrm>
          <a:prstGeom prst="rect">
            <a:avLst/>
          </a:prstGeom>
          <a:noFill/>
          <a:ln/>
        </p:spPr>
        <p:txBody>
          <a:bodyPr wrap="square" lIns="0" tIns="0" rIns="0" bIns="0" rtlCol="0" anchor="t">
            <a:normAutofit/>
          </a:bodyPr>
          <a:lstStyle/>
          <a:p>
            <a:pPr algn="ctr" indent="0" marL="0">
              <a:lnSpc>
                <a:spcPct val="77000"/>
              </a:lnSpc>
              <a:buNone/>
            </a:pPr>
            <a:r>
              <a:rPr lang="en-US" sz="6600" spc="33" kern="100" dirty="0">
                <a:solidFill>
                  <a:srgbClr val="16263D"/>
                </a:solidFill>
                <a:latin typeface="Bangers" pitchFamily="34" charset="0"/>
                <a:ea typeface="Bangers" pitchFamily="34" charset="-122"/>
                <a:cs typeface="Bangers" pitchFamily="34" charset="-120"/>
              </a:rPr>
              <a:t>CAMPUS</a:t>
            </a:r>
            <a:endParaRPr lang="en-US" sz="6600" dirty="0"/>
          </a:p>
          <a:p>
            <a:pPr algn="ctr" indent="0" marL="0">
              <a:lnSpc>
                <a:spcPct val="77000"/>
              </a:lnSpc>
              <a:buNone/>
            </a:pPr>
            <a:r>
              <a:rPr lang="en-US" sz="6600" spc="33" kern="100" dirty="0">
                <a:solidFill>
                  <a:srgbClr val="16263D"/>
                </a:solidFill>
                <a:latin typeface="Bangers" pitchFamily="34" charset="0"/>
                <a:ea typeface="Bangers" pitchFamily="34" charset="-122"/>
                <a:cs typeface="Bangers" pitchFamily="34" charset="-120"/>
              </a:rPr>
              <a:t>EXPERIENCES</a:t>
            </a:r>
            <a:endParaRPr lang="en-US" sz="6600" dirty="0"/>
          </a:p>
        </p:txBody>
      </p:sp>
      <p:sp>
        <p:nvSpPr>
          <p:cNvPr id="4" name="Shape 1"/>
          <p:cNvSpPr/>
          <p:nvPr/>
        </p:nvSpPr>
        <p:spPr>
          <a:xfrm>
            <a:off x="228594" y="3378597"/>
            <a:ext cx="8214115" cy="1411684"/>
          </a:xfrm>
          <a:prstGeom prst="rect">
            <a:avLst/>
          </a:prstGeom>
          <a:solidFill>
            <a:srgbClr val="FFFFFF"/>
          </a:solidFill>
          <a:ln/>
        </p:spPr>
      </p:sp>
      <p:sp>
        <p:nvSpPr>
          <p:cNvPr id="5" name="Text 2"/>
          <p:cNvSpPr/>
          <p:nvPr/>
        </p:nvSpPr>
        <p:spPr>
          <a:xfrm>
            <a:off x="457189" y="3558873"/>
            <a:ext cx="7756926" cy="1056084"/>
          </a:xfrm>
          <a:prstGeom prst="rect">
            <a:avLst/>
          </a:prstGeom>
          <a:noFill/>
          <a:ln/>
        </p:spPr>
        <p:txBody>
          <a:bodyPr wrap="square" lIns="0" tIns="0" rIns="0" bIns="0" rtlCol="0" anchor="t">
            <a:normAutofit/>
          </a:bodyPr>
          <a:lstStyle/>
          <a:p>
            <a:pPr algn="ctr" indent="0" marL="0">
              <a:lnSpc>
                <a:spcPct val="110000"/>
              </a:lnSpc>
              <a:buNone/>
            </a:pPr>
            <a:r>
              <a:rPr lang="en-US" sz="2100" b="1" dirty="0">
                <a:solidFill>
                  <a:srgbClr val="16263D"/>
                </a:solidFill>
                <a:latin typeface="Atkinson Hyperlegible Bold" pitchFamily="34" charset="0"/>
                <a:ea typeface="Atkinson Hyperlegible Bold" pitchFamily="34" charset="-122"/>
                <a:cs typeface="Atkinson Hyperlegible Bold" pitchFamily="34" charset="-120"/>
              </a:rPr>
              <a:t>From scattered announcements to one trusted place.</a:t>
            </a:r>
            <a:endParaRPr lang="en-US" sz="2100" dirty="0"/>
          </a:p>
          <a:p>
            <a:pPr algn="ctr" indent="0" marL="0">
              <a:lnSpc>
                <a:spcPct val="110000"/>
              </a:lnSpc>
              <a:buNone/>
            </a:pPr>
            <a:r>
              <a:rPr lang="en-US" sz="2100" dirty="0">
                <a:solidFill>
                  <a:srgbClr val="16263D"/>
                </a:solidFill>
                <a:latin typeface="Atkinson Hyperlegible" pitchFamily="34" charset="0"/>
                <a:ea typeface="Atkinson Hyperlegible" pitchFamily="34" charset="-122"/>
                <a:cs typeface="Atkinson Hyperlegible" pitchFamily="34" charset="-120"/>
              </a:rPr>
              <a:t>From paper attendance to live visibility.</a:t>
            </a:r>
            <a:endParaRPr lang="en-US" sz="2100" dirty="0"/>
          </a:p>
          <a:p>
            <a:pPr algn="ctr" indent="0" marL="0">
              <a:lnSpc>
                <a:spcPct val="110000"/>
              </a:lnSpc>
              <a:buNone/>
            </a:pPr>
            <a:r>
              <a:rPr lang="en-US" sz="2100" dirty="0">
                <a:solidFill>
                  <a:srgbClr val="16263D"/>
                </a:solidFill>
                <a:latin typeface="Atkinson Hyperlegible" pitchFamily="34" charset="0"/>
                <a:ea typeface="Atkinson Hyperlegible" pitchFamily="34" charset="-122"/>
                <a:cs typeface="Atkinson Hyperlegible" pitchFamily="34" charset="-120"/>
              </a:rPr>
              <a:t>From “Did anyone see this?” to “Let’s make it happen.”</a:t>
            </a:r>
            <a:endParaRPr lang="en-US" sz="2100" dirty="0"/>
          </a:p>
        </p:txBody>
      </p:sp>
      <p:sp>
        <p:nvSpPr>
          <p:cNvPr id="6" name="Text 3"/>
          <p:cNvSpPr/>
          <p:nvPr/>
        </p:nvSpPr>
        <p:spPr>
          <a:xfrm>
            <a:off x="228594" y="4983258"/>
            <a:ext cx="11734506" cy="704056"/>
          </a:xfrm>
          <a:prstGeom prst="rect">
            <a:avLst/>
          </a:prstGeom>
          <a:noFill/>
          <a:ln/>
        </p:spPr>
        <p:txBody>
          <a:bodyPr wrap="square" lIns="0" tIns="0" rIns="0" bIns="0" rtlCol="0" anchor="t">
            <a:normAutofit/>
          </a:bodyPr>
          <a:lstStyle/>
          <a:p>
            <a:pPr algn="ctr" indent="0" marL="0">
              <a:lnSpc>
                <a:spcPct val="110000"/>
              </a:lnSpc>
              <a:buNone/>
            </a:pPr>
            <a:r>
              <a:rPr lang="en-US" sz="2100" dirty="0">
                <a:solidFill>
                  <a:srgbClr val="16263D"/>
                </a:solidFill>
                <a:latin typeface="Atkinson Hyperlegible" pitchFamily="34" charset="0"/>
                <a:ea typeface="Atkinson Hyperlegible" pitchFamily="34" charset="-122"/>
                <a:cs typeface="Atkinson Hyperlegible" pitchFamily="34" charset="-120"/>
              </a:rPr>
              <a:t>Local Host: http://localhost:5173/</a:t>
            </a:r>
            <a:endParaRPr lang="en-US" sz="2100" dirty="0"/>
          </a:p>
          <a:p>
            <a:pPr algn="ctr" indent="0" marL="0">
              <a:lnSpc>
                <a:spcPct val="110000"/>
              </a:lnSpc>
              <a:buNone/>
            </a:pPr>
            <a:r>
              <a:rPr lang="en-US" sz="2100" dirty="0">
                <a:solidFill>
                  <a:srgbClr val="16263D"/>
                </a:solidFill>
                <a:latin typeface="Atkinson Hyperlegible" pitchFamily="34" charset="0"/>
                <a:ea typeface="Atkinson Hyperlegible" pitchFamily="34" charset="-122"/>
                <a:cs typeface="Atkinson Hyperlegible" pitchFamily="34" charset="-120"/>
              </a:rPr>
              <a:t>LAN / Mobile: http://172.16.15.164:5173/</a:t>
            </a:r>
            <a:endParaRPr lang="en-US" sz="2100" dirty="0"/>
          </a:p>
        </p:txBody>
      </p:sp>
      <p:sp>
        <p:nvSpPr>
          <p:cNvPr id="7" name="Text 4"/>
          <p:cNvSpPr/>
          <p:nvPr/>
        </p:nvSpPr>
        <p:spPr>
          <a:xfrm>
            <a:off x="0" y="5881801"/>
            <a:ext cx="12191695" cy="182563"/>
          </a:xfrm>
          <a:prstGeom prst="rect">
            <a:avLst/>
          </a:prstGeom>
          <a:noFill/>
          <a:ln/>
        </p:spPr>
        <p:txBody>
          <a:bodyPr wrap="none" lIns="0" tIns="0" rIns="0" bIns="0" rtlCol="0" anchor="t"/>
          <a:lstStyle/>
          <a:p>
            <a:pPr algn="ctr" indent="0" marL="0">
              <a:lnSpc>
                <a:spcPct val="96000"/>
              </a:lnSpc>
              <a:buNone/>
            </a:pPr>
            <a:r>
              <a:rPr lang="en-US" sz="1250" b="1" spc="12" kern="100" dirty="0">
                <a:solidFill>
                  <a:srgbClr val="16263D"/>
                </a:solidFill>
                <a:latin typeface="Atkinson Hyperlegible Bold" pitchFamily="34" charset="0"/>
                <a:ea typeface="Atkinson Hyperlegible Bold" pitchFamily="34" charset="-122"/>
                <a:cs typeface="Atkinson Hyperlegible Bold" pitchFamily="34" charset="-120"/>
              </a:rPr>
              <a:t>Questions?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2026-10-13T08:11:03Z</dcterms:created>
  <dcterms:modified xsi:type="dcterms:W3CDTF">2026-10-13T08:11:03Z</dcterms:modified>
</cp:coreProperties>
</file>